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8288000" cy="10287000"/>
  <p:notesSz cx="6858000" cy="9144000"/>
  <p:embeddedFontLst>
    <p:embeddedFont>
      <p:font typeface="Evolventa Bold" charset="1" panose="020B0702020202020204"/>
      <p:regular r:id="rId19"/>
    </p:embeddedFont>
    <p:embeddedFont>
      <p:font typeface="Evolventa" charset="1" panose="020B0502020202020204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svg" Type="http://schemas.openxmlformats.org/officeDocument/2006/relationships/image"/><Relationship Id="rId4" Target="../media/image15.png" Type="http://schemas.openxmlformats.org/officeDocument/2006/relationships/image"/><Relationship Id="rId5" Target="../media/image16.svg" Type="http://schemas.openxmlformats.org/officeDocument/2006/relationships/image"/><Relationship Id="rId6" Target="../media/image17.png" Type="http://schemas.openxmlformats.org/officeDocument/2006/relationships/image"/><Relationship Id="rId7" Target="../media/image18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Relationship Id="rId3" Target="../media/image20.svg" Type="http://schemas.openxmlformats.org/officeDocument/2006/relationships/image"/><Relationship Id="rId4" Target="../media/image21.png" Type="http://schemas.openxmlformats.org/officeDocument/2006/relationships/image"/><Relationship Id="rId5" Target="../media/image22.svg" Type="http://schemas.openxmlformats.org/officeDocument/2006/relationships/image"/><Relationship Id="rId6" Target="../media/image23.png" Type="http://schemas.openxmlformats.org/officeDocument/2006/relationships/image"/><Relationship Id="rId7" Target="../media/image24.svg" Type="http://schemas.openxmlformats.org/officeDocument/2006/relationships/image"/><Relationship Id="rId8" Target="../media/image5.png" Type="http://schemas.openxmlformats.org/officeDocument/2006/relationships/image"/><Relationship Id="rId9" Target="../media/image6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5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6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7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8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9.png" Type="http://schemas.openxmlformats.org/officeDocument/2006/relationships/image"/><Relationship Id="rId3" Target="../media/image30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1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2.png" Type="http://schemas.openxmlformats.org/officeDocument/2006/relationships/image"/><Relationship Id="rId3" Target="../media/image33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4.png" Type="http://schemas.openxmlformats.org/officeDocument/2006/relationships/image"/><Relationship Id="rId3" Target="../media/image35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4.png" Type="http://schemas.openxmlformats.org/officeDocument/2006/relationships/image"/><Relationship Id="rId11" Target="../media/image45.svg" Type="http://schemas.openxmlformats.org/officeDocument/2006/relationships/image"/><Relationship Id="rId12" Target="../media/image46.png" Type="http://schemas.openxmlformats.org/officeDocument/2006/relationships/image"/><Relationship Id="rId13" Target="../media/image47.svg" Type="http://schemas.openxmlformats.org/officeDocument/2006/relationships/image"/><Relationship Id="rId14" Target="../media/image48.png" Type="http://schemas.openxmlformats.org/officeDocument/2006/relationships/image"/><Relationship Id="rId15" Target="../media/image49.svg" Type="http://schemas.openxmlformats.org/officeDocument/2006/relationships/image"/><Relationship Id="rId16" Target="../media/image50.png" Type="http://schemas.openxmlformats.org/officeDocument/2006/relationships/image"/><Relationship Id="rId17" Target="../media/image51.svg" Type="http://schemas.openxmlformats.org/officeDocument/2006/relationships/image"/><Relationship Id="rId18" Target="../media/image52.png" Type="http://schemas.openxmlformats.org/officeDocument/2006/relationships/image"/><Relationship Id="rId19" Target="../media/image53.svg" Type="http://schemas.openxmlformats.org/officeDocument/2006/relationships/image"/><Relationship Id="rId2" Target="../media/image36.png" Type="http://schemas.openxmlformats.org/officeDocument/2006/relationships/image"/><Relationship Id="rId20" Target="../media/image54.png" Type="http://schemas.openxmlformats.org/officeDocument/2006/relationships/image"/><Relationship Id="rId21" Target="../media/image55.svg" Type="http://schemas.openxmlformats.org/officeDocument/2006/relationships/image"/><Relationship Id="rId22" Target="../media/image56.png" Type="http://schemas.openxmlformats.org/officeDocument/2006/relationships/image"/><Relationship Id="rId23" Target="../media/image57.svg" Type="http://schemas.openxmlformats.org/officeDocument/2006/relationships/image"/><Relationship Id="rId24" Target="../media/image58.png" Type="http://schemas.openxmlformats.org/officeDocument/2006/relationships/image"/><Relationship Id="rId25" Target="../media/image59.svg" Type="http://schemas.openxmlformats.org/officeDocument/2006/relationships/image"/><Relationship Id="rId26" Target="../media/image60.png" Type="http://schemas.openxmlformats.org/officeDocument/2006/relationships/image"/><Relationship Id="rId27" Target="../media/image61.svg" Type="http://schemas.openxmlformats.org/officeDocument/2006/relationships/image"/><Relationship Id="rId28" Target="../media/image62.png" Type="http://schemas.openxmlformats.org/officeDocument/2006/relationships/image"/><Relationship Id="rId29" Target="../media/image63.svg" Type="http://schemas.openxmlformats.org/officeDocument/2006/relationships/image"/><Relationship Id="rId3" Target="../media/image37.svg" Type="http://schemas.openxmlformats.org/officeDocument/2006/relationships/image"/><Relationship Id="rId30" Target="../media/image64.png" Type="http://schemas.openxmlformats.org/officeDocument/2006/relationships/image"/><Relationship Id="rId31" Target="../media/image65.svg" Type="http://schemas.openxmlformats.org/officeDocument/2006/relationships/image"/><Relationship Id="rId32" Target="../media/image66.png" Type="http://schemas.openxmlformats.org/officeDocument/2006/relationships/image"/><Relationship Id="rId33" Target="../media/image67.svg" Type="http://schemas.openxmlformats.org/officeDocument/2006/relationships/image"/><Relationship Id="rId34" Target="../media/image68.png" Type="http://schemas.openxmlformats.org/officeDocument/2006/relationships/image"/><Relationship Id="rId35" Target="../media/image69.svg" Type="http://schemas.openxmlformats.org/officeDocument/2006/relationships/image"/><Relationship Id="rId36" Target="../media/image70.png" Type="http://schemas.openxmlformats.org/officeDocument/2006/relationships/image"/><Relationship Id="rId37" Target="../media/image71.svg" Type="http://schemas.openxmlformats.org/officeDocument/2006/relationships/image"/><Relationship Id="rId38" Target="../media/image72.png" Type="http://schemas.openxmlformats.org/officeDocument/2006/relationships/image"/><Relationship Id="rId39" Target="../media/image73.svg" Type="http://schemas.openxmlformats.org/officeDocument/2006/relationships/image"/><Relationship Id="rId4" Target="../media/image38.png" Type="http://schemas.openxmlformats.org/officeDocument/2006/relationships/image"/><Relationship Id="rId40" Target="../media/image74.png" Type="http://schemas.openxmlformats.org/officeDocument/2006/relationships/image"/><Relationship Id="rId41" Target="../media/image75.svg" Type="http://schemas.openxmlformats.org/officeDocument/2006/relationships/image"/><Relationship Id="rId42" Target="../media/image76.png" Type="http://schemas.openxmlformats.org/officeDocument/2006/relationships/image"/><Relationship Id="rId43" Target="../media/image77.svg" Type="http://schemas.openxmlformats.org/officeDocument/2006/relationships/image"/><Relationship Id="rId44" Target="../media/image78.png" Type="http://schemas.openxmlformats.org/officeDocument/2006/relationships/image"/><Relationship Id="rId45" Target="../media/image79.svg" Type="http://schemas.openxmlformats.org/officeDocument/2006/relationships/image"/><Relationship Id="rId46" Target="../media/image80.png" Type="http://schemas.openxmlformats.org/officeDocument/2006/relationships/image"/><Relationship Id="rId47" Target="../media/image81.svg" Type="http://schemas.openxmlformats.org/officeDocument/2006/relationships/image"/><Relationship Id="rId48" Target="../media/image82.png" Type="http://schemas.openxmlformats.org/officeDocument/2006/relationships/image"/><Relationship Id="rId49" Target="../media/image83.svg" Type="http://schemas.openxmlformats.org/officeDocument/2006/relationships/image"/><Relationship Id="rId5" Target="../media/image39.svg" Type="http://schemas.openxmlformats.org/officeDocument/2006/relationships/image"/><Relationship Id="rId50" Target="../media/image84.png" Type="http://schemas.openxmlformats.org/officeDocument/2006/relationships/image"/><Relationship Id="rId51" Target="../media/image85.svg" Type="http://schemas.openxmlformats.org/officeDocument/2006/relationships/image"/><Relationship Id="rId52" Target="../media/image86.png" Type="http://schemas.openxmlformats.org/officeDocument/2006/relationships/image"/><Relationship Id="rId53" Target="../media/image87.svg" Type="http://schemas.openxmlformats.org/officeDocument/2006/relationships/image"/><Relationship Id="rId54" Target="../media/image88.png" Type="http://schemas.openxmlformats.org/officeDocument/2006/relationships/image"/><Relationship Id="rId55" Target="../media/image89.svg" Type="http://schemas.openxmlformats.org/officeDocument/2006/relationships/image"/><Relationship Id="rId56" Target="../media/image90.png" Type="http://schemas.openxmlformats.org/officeDocument/2006/relationships/image"/><Relationship Id="rId57" Target="../media/image91.svg" Type="http://schemas.openxmlformats.org/officeDocument/2006/relationships/image"/><Relationship Id="rId58" Target="../media/image92.png" Type="http://schemas.openxmlformats.org/officeDocument/2006/relationships/image"/><Relationship Id="rId59" Target="../media/image93.svg" Type="http://schemas.openxmlformats.org/officeDocument/2006/relationships/image"/><Relationship Id="rId6" Target="../media/image40.png" Type="http://schemas.openxmlformats.org/officeDocument/2006/relationships/image"/><Relationship Id="rId60" Target="../media/image94.png" Type="http://schemas.openxmlformats.org/officeDocument/2006/relationships/image"/><Relationship Id="rId61" Target="../media/image95.svg" Type="http://schemas.openxmlformats.org/officeDocument/2006/relationships/image"/><Relationship Id="rId7" Target="../media/image41.svg" Type="http://schemas.openxmlformats.org/officeDocument/2006/relationships/image"/><Relationship Id="rId8" Target="../media/image42.png" Type="http://schemas.openxmlformats.org/officeDocument/2006/relationships/image"/><Relationship Id="rId9" Target="../media/image43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B4B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665802" y="1831929"/>
            <a:ext cx="9053799" cy="5970032"/>
            <a:chOff x="0" y="0"/>
            <a:chExt cx="12071732" cy="7960043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-95250"/>
              <a:ext cx="12071732" cy="71847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855"/>
                </a:lnSpc>
              </a:pPr>
              <a:r>
                <a:rPr lang="en-US" sz="6721" b="true">
                  <a:solidFill>
                    <a:srgbClr val="F7B4A7"/>
                  </a:solidFill>
                  <a:latin typeface="Evolventa Bold"/>
                  <a:ea typeface="Evolventa Bold"/>
                  <a:cs typeface="Evolventa Bold"/>
                  <a:sym typeface="Evolventa Bold"/>
                </a:rPr>
                <a:t>Архитектура цифрового рисования: от датчиков давления до SIMD-рендеринга мазка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340783" y="6870440"/>
              <a:ext cx="11390167" cy="108960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040"/>
                </a:lnSpc>
              </a:pPr>
              <a:r>
                <a:rPr lang="en-US" sz="4314">
                  <a:solidFill>
                    <a:srgbClr val="94DDDE"/>
                  </a:solidFill>
                  <a:latin typeface="Evolventa"/>
                  <a:ea typeface="Evolventa"/>
                  <a:cs typeface="Evolventa"/>
                  <a:sym typeface="Evolventa"/>
                </a:rPr>
                <a:t>Джантуре Назерке Р3208</a:t>
              </a: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182834" y="-1921745"/>
            <a:ext cx="6755642" cy="4114800"/>
          </a:xfrm>
          <a:custGeom>
            <a:avLst/>
            <a:gdLst/>
            <a:ahLst/>
            <a:cxnLst/>
            <a:rect r="r" b="b" t="t" l="l"/>
            <a:pathLst>
              <a:path h="4114800" w="6755642">
                <a:moveTo>
                  <a:pt x="0" y="0"/>
                </a:moveTo>
                <a:lnTo>
                  <a:pt x="6755642" y="0"/>
                </a:lnTo>
                <a:lnTo>
                  <a:pt x="675564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6303834" y="1790711"/>
            <a:ext cx="1194327" cy="2586142"/>
          </a:xfrm>
          <a:custGeom>
            <a:avLst/>
            <a:gdLst/>
            <a:ahLst/>
            <a:cxnLst/>
            <a:rect r="r" b="b" t="t" l="l"/>
            <a:pathLst>
              <a:path h="2586142" w="1194327">
                <a:moveTo>
                  <a:pt x="0" y="0"/>
                </a:moveTo>
                <a:lnTo>
                  <a:pt x="1194327" y="0"/>
                </a:lnTo>
                <a:lnTo>
                  <a:pt x="1194327" y="2586142"/>
                </a:lnTo>
                <a:lnTo>
                  <a:pt x="0" y="258614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false" rot="0">
            <a:off x="2095190" y="2021154"/>
            <a:ext cx="5357753" cy="5591583"/>
          </a:xfrm>
          <a:custGeom>
            <a:avLst/>
            <a:gdLst/>
            <a:ahLst/>
            <a:cxnLst/>
            <a:rect r="r" b="b" t="t" l="l"/>
            <a:pathLst>
              <a:path h="5591583" w="5357753">
                <a:moveTo>
                  <a:pt x="5357753" y="0"/>
                </a:moveTo>
                <a:lnTo>
                  <a:pt x="0" y="0"/>
                </a:lnTo>
                <a:lnTo>
                  <a:pt x="0" y="5591582"/>
                </a:lnTo>
                <a:lnTo>
                  <a:pt x="5357753" y="5591582"/>
                </a:lnTo>
                <a:lnTo>
                  <a:pt x="5357753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-947148" y="1264426"/>
            <a:ext cx="3144039" cy="2440918"/>
          </a:xfrm>
          <a:custGeom>
            <a:avLst/>
            <a:gdLst/>
            <a:ahLst/>
            <a:cxnLst/>
            <a:rect r="r" b="b" t="t" l="l"/>
            <a:pathLst>
              <a:path h="2440918" w="3144039">
                <a:moveTo>
                  <a:pt x="0" y="0"/>
                </a:moveTo>
                <a:lnTo>
                  <a:pt x="3144040" y="0"/>
                </a:lnTo>
                <a:lnTo>
                  <a:pt x="3144040" y="2440918"/>
                </a:lnTo>
                <a:lnTo>
                  <a:pt x="0" y="244091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624872" y="5005800"/>
            <a:ext cx="1894295" cy="4252500"/>
          </a:xfrm>
          <a:custGeom>
            <a:avLst/>
            <a:gdLst/>
            <a:ahLst/>
            <a:cxnLst/>
            <a:rect r="r" b="b" t="t" l="l"/>
            <a:pathLst>
              <a:path h="4252500" w="1894295">
                <a:moveTo>
                  <a:pt x="0" y="0"/>
                </a:moveTo>
                <a:lnTo>
                  <a:pt x="1894295" y="0"/>
                </a:lnTo>
                <a:lnTo>
                  <a:pt x="1894295" y="4252500"/>
                </a:lnTo>
                <a:lnTo>
                  <a:pt x="0" y="42525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4011803" y="7612736"/>
            <a:ext cx="3486358" cy="4114800"/>
          </a:xfrm>
          <a:custGeom>
            <a:avLst/>
            <a:gdLst/>
            <a:ahLst/>
            <a:cxnLst/>
            <a:rect r="r" b="b" t="t" l="l"/>
            <a:pathLst>
              <a:path h="4114800" w="3486358">
                <a:moveTo>
                  <a:pt x="0" y="0"/>
                </a:moveTo>
                <a:lnTo>
                  <a:pt x="3486358" y="0"/>
                </a:lnTo>
                <a:lnTo>
                  <a:pt x="348635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B4B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302264" y="1684366"/>
            <a:ext cx="8966712" cy="5661949"/>
            <a:chOff x="0" y="0"/>
            <a:chExt cx="11955616" cy="7549265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481673" y="-228600"/>
              <a:ext cx="6723775" cy="17653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9089"/>
                </a:lnSpc>
              </a:pPr>
              <a:r>
                <a:rPr lang="en-US" sz="7574" b="true">
                  <a:solidFill>
                    <a:srgbClr val="F7B4A7"/>
                  </a:solidFill>
                  <a:latin typeface="Evolventa Bold"/>
                  <a:ea typeface="Evolventa Bold"/>
                  <a:cs typeface="Evolventa Bold"/>
                  <a:sym typeface="Evolventa Bold"/>
                </a:rPr>
                <a:t>ПОВЕСТКА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2210554"/>
              <a:ext cx="11955616" cy="7886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784"/>
                </a:lnSpc>
              </a:pPr>
              <a:r>
                <a:rPr lang="en-US" sz="2899" spc="347">
                  <a:solidFill>
                    <a:srgbClr val="94DDDE"/>
                  </a:solidFill>
                  <a:latin typeface="Evolventa"/>
                  <a:ea typeface="Evolventa"/>
                  <a:cs typeface="Evolventa"/>
                  <a:sym typeface="Evolventa"/>
                </a:rPr>
                <a:t>КЛЮЧЕВЫЕ ТЕМЫ В ЭТОЙ ПРЕЗЕНТАЦИИ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4455968"/>
              <a:ext cx="11456630" cy="309329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 marL="561341" indent="-280670" lvl="1">
                <a:lnSpc>
                  <a:spcPts val="3640"/>
                </a:lnSpc>
                <a:buFont typeface="Arial"/>
                <a:buChar char="•"/>
              </a:pPr>
              <a:r>
                <a:rPr lang="en-US" sz="2600">
                  <a:solidFill>
                    <a:srgbClr val="94DDDE"/>
                  </a:solidFill>
                  <a:latin typeface="Evolventa"/>
                  <a:ea typeface="Evolventa"/>
                  <a:cs typeface="Evolventa"/>
                  <a:sym typeface="Evolventa"/>
                </a:rPr>
                <a:t>Виды стилусов</a:t>
              </a:r>
            </a:p>
            <a:p>
              <a:pPr algn="just" marL="561341" indent="-280670" lvl="1">
                <a:lnSpc>
                  <a:spcPts val="3640"/>
                </a:lnSpc>
                <a:buFont typeface="Arial"/>
                <a:buChar char="•"/>
              </a:pPr>
              <a:r>
                <a:rPr lang="en-US" sz="2600">
                  <a:solidFill>
                    <a:srgbClr val="94DDDE"/>
                  </a:solidFill>
                  <a:latin typeface="Evolventa"/>
                  <a:ea typeface="Evolventa"/>
                  <a:cs typeface="Evolventa"/>
                  <a:sym typeface="Evolventa"/>
                </a:rPr>
                <a:t>Датчики давления у стилусов</a:t>
              </a:r>
            </a:p>
            <a:p>
              <a:pPr algn="just" marL="561341" indent="-280670" lvl="1">
                <a:lnSpc>
                  <a:spcPts val="3640"/>
                </a:lnSpc>
                <a:buFont typeface="Arial"/>
                <a:buChar char="•"/>
              </a:pPr>
              <a:r>
                <a:rPr lang="en-US" sz="2600">
                  <a:solidFill>
                    <a:srgbClr val="94DDDE"/>
                  </a:solidFill>
                  <a:latin typeface="Evolventa"/>
                  <a:ea typeface="Evolventa"/>
                  <a:cs typeface="Evolventa"/>
                  <a:sym typeface="Evolventa"/>
                </a:rPr>
                <a:t>Способы передачи данных от стилусов</a:t>
              </a:r>
            </a:p>
            <a:p>
              <a:pPr algn="just" marL="561341" indent="-280670" lvl="1">
                <a:lnSpc>
                  <a:spcPts val="3640"/>
                </a:lnSpc>
                <a:buFont typeface="Arial"/>
                <a:buChar char="•"/>
              </a:pPr>
              <a:r>
                <a:rPr lang="en-US" sz="2600">
                  <a:solidFill>
                    <a:srgbClr val="94DDDE"/>
                  </a:solidFill>
                  <a:latin typeface="Evolventa"/>
                  <a:ea typeface="Evolventa"/>
                  <a:cs typeface="Evolventa"/>
                  <a:sym typeface="Evolventa"/>
                </a:rPr>
                <a:t>CPU и GPU обработчики пикселей</a:t>
              </a:r>
            </a:p>
            <a:p>
              <a:pPr algn="just" marL="561340" indent="-280670" lvl="1">
                <a:lnSpc>
                  <a:spcPts val="3640"/>
                </a:lnSpc>
                <a:buFont typeface="Arial"/>
                <a:buChar char="•"/>
              </a:pPr>
              <a:r>
                <a:rPr lang="en-US" sz="2600">
                  <a:solidFill>
                    <a:srgbClr val="94DDDE"/>
                  </a:solidFill>
                  <a:latin typeface="Evolventa"/>
                  <a:ea typeface="Evolventa"/>
                  <a:cs typeface="Evolventa"/>
                  <a:sym typeface="Evolventa"/>
                </a:rPr>
                <a:t>Схема</a:t>
              </a: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309758" y="1684366"/>
            <a:ext cx="3874545" cy="5122596"/>
          </a:xfrm>
          <a:custGeom>
            <a:avLst/>
            <a:gdLst/>
            <a:ahLst/>
            <a:cxnLst/>
            <a:rect r="r" b="b" t="t" l="l"/>
            <a:pathLst>
              <a:path h="5122596" w="3874545">
                <a:moveTo>
                  <a:pt x="0" y="0"/>
                </a:moveTo>
                <a:lnTo>
                  <a:pt x="3874546" y="0"/>
                </a:lnTo>
                <a:lnTo>
                  <a:pt x="3874546" y="5122596"/>
                </a:lnTo>
                <a:lnTo>
                  <a:pt x="0" y="51225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2380976" y="2475095"/>
            <a:ext cx="3874545" cy="5122596"/>
          </a:xfrm>
          <a:custGeom>
            <a:avLst/>
            <a:gdLst/>
            <a:ahLst/>
            <a:cxnLst/>
            <a:rect r="r" b="b" t="t" l="l"/>
            <a:pathLst>
              <a:path h="5122596" w="3874545">
                <a:moveTo>
                  <a:pt x="0" y="0"/>
                </a:moveTo>
                <a:lnTo>
                  <a:pt x="3874545" y="0"/>
                </a:lnTo>
                <a:lnTo>
                  <a:pt x="3874545" y="5122595"/>
                </a:lnTo>
                <a:lnTo>
                  <a:pt x="0" y="512259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3495732" y="3214319"/>
            <a:ext cx="3874545" cy="5122596"/>
          </a:xfrm>
          <a:custGeom>
            <a:avLst/>
            <a:gdLst/>
            <a:ahLst/>
            <a:cxnLst/>
            <a:rect r="r" b="b" t="t" l="l"/>
            <a:pathLst>
              <a:path h="5122596" w="3874545">
                <a:moveTo>
                  <a:pt x="0" y="0"/>
                </a:moveTo>
                <a:lnTo>
                  <a:pt x="3874545" y="0"/>
                </a:lnTo>
                <a:lnTo>
                  <a:pt x="3874545" y="5122596"/>
                </a:lnTo>
                <a:lnTo>
                  <a:pt x="0" y="512259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73462" y="3981562"/>
            <a:ext cx="7041568" cy="3424910"/>
            <a:chOff x="0" y="0"/>
            <a:chExt cx="9388757" cy="4566547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-200025"/>
              <a:ext cx="9388757" cy="14954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7680"/>
                </a:lnSpc>
              </a:pPr>
              <a:r>
                <a:rPr lang="en-US" sz="6400" b="true">
                  <a:solidFill>
                    <a:srgbClr val="2B4B82"/>
                  </a:solidFill>
                  <a:latin typeface="Evolventa Bold"/>
                  <a:ea typeface="Evolventa Bold"/>
                  <a:cs typeface="Evolventa Bold"/>
                  <a:sym typeface="Evolventa Bold"/>
                </a:rPr>
                <a:t>Пассивные(EMR)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1515794"/>
              <a:ext cx="8369239" cy="305075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690874" indent="-345437" lvl="1">
                <a:lnSpc>
                  <a:spcPts val="4479"/>
                </a:lnSpc>
                <a:buFont typeface="Arial"/>
                <a:buChar char="•"/>
              </a:pPr>
              <a:r>
                <a:rPr lang="en-US" sz="3199">
                  <a:solidFill>
                    <a:srgbClr val="2B4B82"/>
                  </a:solidFill>
                  <a:latin typeface="Evolventa"/>
                  <a:ea typeface="Evolventa"/>
                  <a:cs typeface="Evolventa"/>
                  <a:sym typeface="Evolventa"/>
                </a:rPr>
                <a:t>Без батареи</a:t>
              </a:r>
            </a:p>
            <a:p>
              <a:pPr algn="l" marL="690874" indent="-345437" lvl="1">
                <a:lnSpc>
                  <a:spcPts val="4479"/>
                </a:lnSpc>
                <a:buFont typeface="Arial"/>
                <a:buChar char="•"/>
              </a:pPr>
              <a:r>
                <a:rPr lang="en-US" sz="3199">
                  <a:solidFill>
                    <a:srgbClr val="2B4B82"/>
                  </a:solidFill>
                  <a:latin typeface="Evolventa"/>
                  <a:ea typeface="Evolventa"/>
                  <a:cs typeface="Evolventa"/>
                  <a:sym typeface="Evolventa"/>
                </a:rPr>
                <a:t>Электромагнитный резонанс</a:t>
              </a:r>
            </a:p>
            <a:p>
              <a:pPr algn="l" marL="690874" indent="-345437" lvl="1">
                <a:lnSpc>
                  <a:spcPts val="4479"/>
                </a:lnSpc>
                <a:buFont typeface="Arial"/>
                <a:buChar char="•"/>
              </a:pPr>
              <a:r>
                <a:rPr lang="en-US" sz="3199">
                  <a:solidFill>
                    <a:srgbClr val="2B4B82"/>
                  </a:solidFill>
                  <a:latin typeface="Evolventa"/>
                  <a:ea typeface="Evolventa"/>
                  <a:cs typeface="Evolventa"/>
                  <a:sym typeface="Evolventa"/>
                </a:rPr>
                <a:t>Высокая точность</a:t>
              </a: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0" y="-963412"/>
            <a:ext cx="4597438" cy="2842053"/>
          </a:xfrm>
          <a:custGeom>
            <a:avLst/>
            <a:gdLst/>
            <a:ahLst/>
            <a:cxnLst/>
            <a:rect r="r" b="b" t="t" l="l"/>
            <a:pathLst>
              <a:path h="2842053" w="4597438">
                <a:moveTo>
                  <a:pt x="0" y="0"/>
                </a:moveTo>
                <a:lnTo>
                  <a:pt x="4597438" y="0"/>
                </a:lnTo>
                <a:lnTo>
                  <a:pt x="4597438" y="2842052"/>
                </a:lnTo>
                <a:lnTo>
                  <a:pt x="0" y="28420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10551837" y="390596"/>
            <a:ext cx="2076668" cy="1276207"/>
          </a:xfrm>
          <a:custGeom>
            <a:avLst/>
            <a:gdLst/>
            <a:ahLst/>
            <a:cxnLst/>
            <a:rect r="r" b="b" t="t" l="l"/>
            <a:pathLst>
              <a:path h="1276207" w="2076668">
                <a:moveTo>
                  <a:pt x="2076668" y="0"/>
                </a:moveTo>
                <a:lnTo>
                  <a:pt x="0" y="0"/>
                </a:lnTo>
                <a:lnTo>
                  <a:pt x="0" y="1276208"/>
                </a:lnTo>
                <a:lnTo>
                  <a:pt x="2076668" y="1276208"/>
                </a:lnTo>
                <a:lnTo>
                  <a:pt x="2076668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3138681" y="-2447996"/>
            <a:ext cx="3837986" cy="4114800"/>
          </a:xfrm>
          <a:custGeom>
            <a:avLst/>
            <a:gdLst/>
            <a:ahLst/>
            <a:cxnLst/>
            <a:rect r="r" b="b" t="t" l="l"/>
            <a:pathLst>
              <a:path h="4114800" w="3837986">
                <a:moveTo>
                  <a:pt x="0" y="0"/>
                </a:moveTo>
                <a:lnTo>
                  <a:pt x="3837987" y="0"/>
                </a:lnTo>
                <a:lnTo>
                  <a:pt x="383798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4994246" y="-3759204"/>
            <a:ext cx="5357753" cy="5591583"/>
          </a:xfrm>
          <a:custGeom>
            <a:avLst/>
            <a:gdLst/>
            <a:ahLst/>
            <a:cxnLst/>
            <a:rect r="r" b="b" t="t" l="l"/>
            <a:pathLst>
              <a:path h="5591583" w="5357753">
                <a:moveTo>
                  <a:pt x="0" y="0"/>
                </a:moveTo>
                <a:lnTo>
                  <a:pt x="5357752" y="0"/>
                </a:lnTo>
                <a:lnTo>
                  <a:pt x="5357752" y="5591583"/>
                </a:lnTo>
                <a:lnTo>
                  <a:pt x="0" y="559158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10982371" y="3978096"/>
            <a:ext cx="6276929" cy="4018745"/>
            <a:chOff x="0" y="0"/>
            <a:chExt cx="8369239" cy="5358327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-200025"/>
              <a:ext cx="8369239" cy="14954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7680"/>
                </a:lnSpc>
              </a:pPr>
              <a:r>
                <a:rPr lang="en-US" sz="6400" b="true">
                  <a:solidFill>
                    <a:srgbClr val="2B4B82"/>
                  </a:solidFill>
                  <a:latin typeface="Evolventa Bold"/>
                  <a:ea typeface="Evolventa Bold"/>
                  <a:cs typeface="Evolventa Bold"/>
                  <a:sym typeface="Evolventa Bold"/>
                </a:rPr>
                <a:t>Активные(AES)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1558274"/>
              <a:ext cx="8369239" cy="380005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690874" indent="-345437" lvl="1">
                <a:lnSpc>
                  <a:spcPts val="4479"/>
                </a:lnSpc>
                <a:buFont typeface="Arial"/>
                <a:buChar char="•"/>
              </a:pPr>
              <a:r>
                <a:rPr lang="en-US" sz="3199">
                  <a:solidFill>
                    <a:srgbClr val="2B4B82"/>
                  </a:solidFill>
                  <a:latin typeface="Evolventa"/>
                  <a:ea typeface="Evolventa"/>
                  <a:cs typeface="Evolventa"/>
                  <a:sym typeface="Evolventa"/>
                </a:rPr>
                <a:t>Есть процессор и батарея</a:t>
              </a:r>
            </a:p>
            <a:p>
              <a:pPr algn="l" marL="690874" indent="-345437" lvl="1">
                <a:lnSpc>
                  <a:spcPts val="4479"/>
                </a:lnSpc>
                <a:buFont typeface="Arial"/>
                <a:buChar char="•"/>
              </a:pPr>
              <a:r>
                <a:rPr lang="en-US" sz="3199">
                  <a:solidFill>
                    <a:srgbClr val="2B4B82"/>
                  </a:solidFill>
                  <a:latin typeface="Evolventa"/>
                  <a:ea typeface="Evolventa"/>
                  <a:cs typeface="Evolventa"/>
                  <a:sym typeface="Evolventa"/>
                </a:rPr>
                <a:t>Передают данные напрямую</a:t>
              </a:r>
            </a:p>
            <a:p>
              <a:pPr algn="l" marL="690874" indent="-345437" lvl="1">
                <a:lnSpc>
                  <a:spcPts val="4479"/>
                </a:lnSpc>
                <a:buFont typeface="Arial"/>
                <a:buChar char="•"/>
              </a:pPr>
              <a:r>
                <a:rPr lang="en-US" sz="3199">
                  <a:solidFill>
                    <a:srgbClr val="2B4B82"/>
                  </a:solidFill>
                  <a:latin typeface="Evolventa"/>
                  <a:ea typeface="Evolventa"/>
                  <a:cs typeface="Evolventa"/>
                  <a:sym typeface="Evolventa"/>
                </a:rPr>
                <a:t>Поддержка дополнительных функций</a:t>
              </a: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6236321" y="2219437"/>
            <a:ext cx="6392185" cy="1171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80"/>
              </a:lnSpc>
            </a:pPr>
            <a:r>
              <a:rPr lang="en-US" sz="6400">
                <a:solidFill>
                  <a:srgbClr val="31356E"/>
                </a:solidFill>
                <a:latin typeface="Evolventa"/>
                <a:ea typeface="Evolventa"/>
                <a:cs typeface="Evolventa"/>
                <a:sym typeface="Evolventa"/>
              </a:rPr>
              <a:t>Типы стилусов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4DD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227788" y="2996276"/>
            <a:ext cx="14324403" cy="6039005"/>
          </a:xfrm>
          <a:custGeom>
            <a:avLst/>
            <a:gdLst/>
            <a:ahLst/>
            <a:cxnLst/>
            <a:rect r="r" b="b" t="t" l="l"/>
            <a:pathLst>
              <a:path h="6039005" w="14324403">
                <a:moveTo>
                  <a:pt x="0" y="0"/>
                </a:moveTo>
                <a:lnTo>
                  <a:pt x="14324403" y="0"/>
                </a:lnTo>
                <a:lnTo>
                  <a:pt x="14324403" y="6039004"/>
                </a:lnTo>
                <a:lnTo>
                  <a:pt x="0" y="60390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10101" y="1110151"/>
            <a:ext cx="11647966" cy="1171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80"/>
              </a:lnSpc>
            </a:pPr>
            <a:r>
              <a:rPr lang="en-US" sz="6400">
                <a:solidFill>
                  <a:srgbClr val="31356E"/>
                </a:solidFill>
                <a:latin typeface="Evolventa"/>
                <a:ea typeface="Evolventa"/>
                <a:cs typeface="Evolventa"/>
                <a:sym typeface="Evolventa"/>
              </a:rPr>
              <a:t>Пример активного стилуса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B4B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373790" y="3075077"/>
            <a:ext cx="7885510" cy="3435928"/>
          </a:xfrm>
          <a:custGeom>
            <a:avLst/>
            <a:gdLst/>
            <a:ahLst/>
            <a:cxnLst/>
            <a:rect r="r" b="b" t="t" l="l"/>
            <a:pathLst>
              <a:path h="3435928" w="7885510">
                <a:moveTo>
                  <a:pt x="0" y="0"/>
                </a:moveTo>
                <a:lnTo>
                  <a:pt x="7885510" y="0"/>
                </a:lnTo>
                <a:lnTo>
                  <a:pt x="7885510" y="3435928"/>
                </a:lnTo>
                <a:lnTo>
                  <a:pt x="0" y="343592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11127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634039" y="2099991"/>
            <a:ext cx="8185384" cy="5386099"/>
            <a:chOff x="0" y="0"/>
            <a:chExt cx="10913846" cy="7181465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-114300"/>
              <a:ext cx="10913846" cy="14071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720"/>
                </a:lnSpc>
              </a:pPr>
              <a:r>
                <a:rPr lang="en-US" sz="6400" b="true">
                  <a:solidFill>
                    <a:srgbClr val="F7B4A7"/>
                  </a:solidFill>
                  <a:latin typeface="Evolventa Bold"/>
                  <a:ea typeface="Evolventa Bold"/>
                  <a:cs typeface="Evolventa Bold"/>
                  <a:sym typeface="Evolventa Bold"/>
                </a:rPr>
                <a:t>Датчики давления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1650404"/>
              <a:ext cx="10913846" cy="553106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626111" indent="-313055" lvl="1">
                <a:lnSpc>
                  <a:spcPts val="4060"/>
                </a:lnSpc>
                <a:buFont typeface="Arial"/>
                <a:buChar char="•"/>
              </a:pPr>
              <a:r>
                <a:rPr lang="en-US" sz="2900">
                  <a:solidFill>
                    <a:srgbClr val="94DDDE"/>
                  </a:solidFill>
                  <a:latin typeface="Evolventa"/>
                  <a:ea typeface="Evolventa"/>
                  <a:cs typeface="Evolventa"/>
                  <a:sym typeface="Evolventa"/>
                </a:rPr>
                <a:t>Изм</a:t>
              </a:r>
              <a:r>
                <a:rPr lang="en-US" sz="2900">
                  <a:solidFill>
                    <a:srgbClr val="94DDDE"/>
                  </a:solidFill>
                  <a:latin typeface="Evolventa"/>
                  <a:ea typeface="Evolventa"/>
                  <a:cs typeface="Evolventa"/>
                  <a:sym typeface="Evolventa"/>
                </a:rPr>
                <a:t>ерение силы нажатия</a:t>
              </a:r>
            </a:p>
            <a:p>
              <a:pPr algn="l" marL="626111" indent="-313055" lvl="1">
                <a:lnSpc>
                  <a:spcPts val="4060"/>
                </a:lnSpc>
                <a:buFont typeface="Arial"/>
                <a:buChar char="•"/>
              </a:pPr>
              <a:r>
                <a:rPr lang="en-US" sz="2900">
                  <a:solidFill>
                    <a:srgbClr val="94DDDE"/>
                  </a:solidFill>
                  <a:latin typeface="Evolventa"/>
                  <a:ea typeface="Evolventa"/>
                  <a:cs typeface="Evolventa"/>
                  <a:sym typeface="Evolventa"/>
                </a:rPr>
                <a:t>4096+ уровней давления</a:t>
              </a:r>
            </a:p>
            <a:p>
              <a:pPr algn="l" marL="626111" indent="-313055" lvl="1">
                <a:lnSpc>
                  <a:spcPts val="4060"/>
                </a:lnSpc>
                <a:buFont typeface="Arial"/>
                <a:buChar char="•"/>
              </a:pPr>
              <a:r>
                <a:rPr lang="en-US" sz="2900">
                  <a:solidFill>
                    <a:srgbClr val="94DDDE"/>
                  </a:solidFill>
                  <a:latin typeface="Evolventa"/>
                  <a:ea typeface="Evolventa"/>
                  <a:cs typeface="Evolventa"/>
                  <a:sym typeface="Evolventa"/>
                </a:rPr>
                <a:t>Частота: 200–300 Гц</a:t>
              </a:r>
            </a:p>
            <a:p>
              <a:pPr algn="l">
                <a:lnSpc>
                  <a:spcPts val="4060"/>
                </a:lnSpc>
              </a:pPr>
              <a:r>
                <a:rPr lang="en-US" sz="2900">
                  <a:solidFill>
                    <a:srgbClr val="94DDDE"/>
                  </a:solidFill>
                  <a:latin typeface="Evolventa"/>
                  <a:ea typeface="Evolventa"/>
                  <a:cs typeface="Evolventa"/>
                  <a:sym typeface="Evolventa"/>
                </a:rPr>
                <a:t>Влияние:</a:t>
              </a:r>
            </a:p>
            <a:p>
              <a:pPr algn="l" marL="626111" indent="-313055" lvl="1">
                <a:lnSpc>
                  <a:spcPts val="4060"/>
                </a:lnSpc>
                <a:buFont typeface="Arial"/>
                <a:buChar char="•"/>
              </a:pPr>
              <a:r>
                <a:rPr lang="en-US" sz="2900">
                  <a:solidFill>
                    <a:srgbClr val="94DDDE"/>
                  </a:solidFill>
                  <a:latin typeface="Evolventa"/>
                  <a:ea typeface="Evolventa"/>
                  <a:cs typeface="Evolventa"/>
                  <a:sym typeface="Evolventa"/>
                </a:rPr>
                <a:t>Толщина линии</a:t>
              </a:r>
            </a:p>
            <a:p>
              <a:pPr algn="l" marL="626111" indent="-313055" lvl="1">
                <a:lnSpc>
                  <a:spcPts val="4060"/>
                </a:lnSpc>
                <a:buFont typeface="Arial"/>
                <a:buChar char="•"/>
              </a:pPr>
              <a:r>
                <a:rPr lang="en-US" sz="2900">
                  <a:solidFill>
                    <a:srgbClr val="94DDDE"/>
                  </a:solidFill>
                  <a:latin typeface="Evolventa"/>
                  <a:ea typeface="Evolventa"/>
                  <a:cs typeface="Evolventa"/>
                  <a:sym typeface="Evolventa"/>
                </a:rPr>
                <a:t>Прозрачность</a:t>
              </a:r>
            </a:p>
            <a:p>
              <a:pPr algn="l" marL="626111" indent="-313055" lvl="1">
                <a:lnSpc>
                  <a:spcPts val="4060"/>
                </a:lnSpc>
                <a:buFont typeface="Arial"/>
                <a:buChar char="•"/>
              </a:pPr>
              <a:r>
                <a:rPr lang="en-US" sz="2900">
                  <a:solidFill>
                    <a:srgbClr val="94DDDE"/>
                  </a:solidFill>
                  <a:latin typeface="Evolventa"/>
                  <a:ea typeface="Evolventa"/>
                  <a:cs typeface="Evolventa"/>
                  <a:sym typeface="Evolventa"/>
                </a:rPr>
                <a:t>Текстура</a:t>
              </a:r>
            </a:p>
            <a:p>
              <a:pPr algn="l">
                <a:lnSpc>
                  <a:spcPts val="4060"/>
                </a:lnSpc>
              </a:pP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491089" y="1963049"/>
            <a:ext cx="10542032" cy="5313184"/>
          </a:xfrm>
          <a:custGeom>
            <a:avLst/>
            <a:gdLst/>
            <a:ahLst/>
            <a:cxnLst/>
            <a:rect r="r" b="b" t="t" l="l"/>
            <a:pathLst>
              <a:path h="5313184" w="10542032">
                <a:moveTo>
                  <a:pt x="0" y="0"/>
                </a:moveTo>
                <a:lnTo>
                  <a:pt x="10542032" y="0"/>
                </a:lnTo>
                <a:lnTo>
                  <a:pt x="10542032" y="5313184"/>
                </a:lnTo>
                <a:lnTo>
                  <a:pt x="0" y="531318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227660" y="2456763"/>
            <a:ext cx="8206439" cy="4325757"/>
            <a:chOff x="0" y="0"/>
            <a:chExt cx="10941919" cy="5767676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-190500"/>
              <a:ext cx="10941919" cy="1422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7320"/>
                </a:lnSpc>
              </a:pPr>
              <a:r>
                <a:rPr lang="en-US" sz="6100" b="true">
                  <a:solidFill>
                    <a:srgbClr val="2B4B82"/>
                  </a:solidFill>
                  <a:latin typeface="Evolventa Bold"/>
                  <a:ea typeface="Evolventa Bold"/>
                  <a:cs typeface="Evolventa Bold"/>
                  <a:sym typeface="Evolventa Bold"/>
                </a:rPr>
                <a:t>Чт</a:t>
              </a:r>
              <a:r>
                <a:rPr lang="en-US" sz="6100" b="true">
                  <a:solidFill>
                    <a:srgbClr val="2B4B82"/>
                  </a:solidFill>
                  <a:latin typeface="Evolventa Bold"/>
                  <a:ea typeface="Evolventa Bold"/>
                  <a:cs typeface="Evolventa Bold"/>
                  <a:sym typeface="Evolventa Bold"/>
                </a:rPr>
                <a:t>о такое HID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1744951"/>
              <a:ext cx="10941919" cy="40227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856"/>
                </a:lnSpc>
              </a:pPr>
              <a:r>
                <a:rPr lang="en-US" sz="2625" spc="414">
                  <a:solidFill>
                    <a:srgbClr val="2B4B82"/>
                  </a:solidFill>
                  <a:latin typeface="Evolventa"/>
                  <a:ea typeface="Evolventa"/>
                  <a:cs typeface="Evolventa"/>
                  <a:sym typeface="Evolventa"/>
                </a:rPr>
                <a:t>HID (HUMAN INTERFACE DEVICE):</a:t>
              </a:r>
            </a:p>
            <a:p>
              <a:pPr algn="l" marL="566738" indent="-283369" lvl="1">
                <a:lnSpc>
                  <a:spcPts val="4856"/>
                </a:lnSpc>
                <a:buFont typeface="Arial"/>
                <a:buChar char="•"/>
              </a:pPr>
              <a:r>
                <a:rPr lang="en-US" sz="2625" spc="414">
                  <a:solidFill>
                    <a:srgbClr val="2B4B82"/>
                  </a:solidFill>
                  <a:latin typeface="Evolventa"/>
                  <a:ea typeface="Evolventa"/>
                  <a:cs typeface="Evolventa"/>
                  <a:sym typeface="Evolventa"/>
                </a:rPr>
                <a:t>Ста</a:t>
              </a:r>
              <a:r>
                <a:rPr lang="en-US" sz="2625" spc="414">
                  <a:solidFill>
                    <a:srgbClr val="2B4B82"/>
                  </a:solidFill>
                  <a:latin typeface="Evolventa"/>
                  <a:ea typeface="Evolventa"/>
                  <a:cs typeface="Evolventa"/>
                  <a:sym typeface="Evolventa"/>
                </a:rPr>
                <a:t>НДАРТ ПЕРЕДАЧИ ДАННЫХ</a:t>
              </a:r>
            </a:p>
            <a:p>
              <a:pPr algn="l" marL="566738" indent="-283369" lvl="1">
                <a:lnSpc>
                  <a:spcPts val="4856"/>
                </a:lnSpc>
                <a:buFont typeface="Arial"/>
                <a:buChar char="•"/>
              </a:pPr>
              <a:r>
                <a:rPr lang="en-US" sz="2625" spc="414">
                  <a:solidFill>
                    <a:srgbClr val="2B4B82"/>
                  </a:solidFill>
                  <a:latin typeface="Evolventa"/>
                  <a:ea typeface="Evolventa"/>
                  <a:cs typeface="Evolventa"/>
                  <a:sym typeface="Evolventa"/>
                </a:rPr>
                <a:t>ИСПОЛЬЗУЕТСЯ ДЛЯ МЫШЕЙ, КЛАВИАТУР, СТИЛУСОВ</a:t>
              </a:r>
            </a:p>
            <a:p>
              <a:pPr algn="l">
                <a:lnSpc>
                  <a:spcPts val="4856"/>
                </a:lnSpc>
              </a:pP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B4B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65582" y="6346823"/>
            <a:ext cx="16493718" cy="3144062"/>
          </a:xfrm>
          <a:custGeom>
            <a:avLst/>
            <a:gdLst/>
            <a:ahLst/>
            <a:cxnLst/>
            <a:rect r="r" b="b" t="t" l="l"/>
            <a:pathLst>
              <a:path h="3144062" w="16493718">
                <a:moveTo>
                  <a:pt x="0" y="0"/>
                </a:moveTo>
                <a:lnTo>
                  <a:pt x="16493718" y="0"/>
                </a:lnTo>
                <a:lnTo>
                  <a:pt x="16493718" y="3144062"/>
                </a:lnTo>
                <a:lnTo>
                  <a:pt x="0" y="314406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899443" y="752475"/>
            <a:ext cx="8489114" cy="1571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200"/>
              </a:lnSpc>
            </a:pPr>
            <a:r>
              <a:rPr lang="en-US" sz="8500" b="true">
                <a:solidFill>
                  <a:srgbClr val="F7B4A7"/>
                </a:solidFill>
                <a:latin typeface="Evolventa Bold"/>
                <a:ea typeface="Evolventa Bold"/>
                <a:cs typeface="Evolventa Bold"/>
                <a:sym typeface="Evolventa Bold"/>
              </a:rPr>
              <a:t>USB</a:t>
            </a:r>
            <a:r>
              <a:rPr lang="en-US" sz="8500" b="true">
                <a:solidFill>
                  <a:srgbClr val="F7B4A7"/>
                </a:solidFill>
                <a:latin typeface="Evolventa Bold"/>
                <a:ea typeface="Evolventa Bold"/>
                <a:cs typeface="Evolventa Bold"/>
                <a:sym typeface="Evolventa Bold"/>
              </a:rPr>
              <a:t> vs Bluetooth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930485" y="2923806"/>
            <a:ext cx="7937916" cy="1573213"/>
            <a:chOff x="0" y="0"/>
            <a:chExt cx="10583889" cy="2097618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297359" y="-200025"/>
              <a:ext cx="10286529" cy="168507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599"/>
                </a:lnSpc>
              </a:pPr>
              <a:r>
                <a:rPr lang="en-US" sz="3999" b="true">
                  <a:solidFill>
                    <a:srgbClr val="94DDDE"/>
                  </a:solidFill>
                  <a:latin typeface="Evolventa Bold"/>
                  <a:ea typeface="Evolventa Bold"/>
                  <a:cs typeface="Evolventa Bold"/>
                  <a:sym typeface="Evolventa Bold"/>
                </a:rPr>
                <a:t>USB:</a:t>
              </a:r>
            </a:p>
            <a:p>
              <a:pPr algn="l">
                <a:lnSpc>
                  <a:spcPts val="3919"/>
                </a:lnSpc>
              </a:pP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729615"/>
              <a:ext cx="10286529" cy="136800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609913" indent="-304957" lvl="1">
                <a:lnSpc>
                  <a:spcPts val="3954"/>
                </a:lnSpc>
                <a:buFont typeface="Arial"/>
                <a:buChar char="•"/>
              </a:pPr>
              <a:r>
                <a:rPr lang="en-US" sz="2824">
                  <a:solidFill>
                    <a:srgbClr val="FEFEFE"/>
                  </a:solidFill>
                  <a:latin typeface="Evolventa"/>
                  <a:ea typeface="Evolventa"/>
                  <a:cs typeface="Evolventa"/>
                  <a:sym typeface="Evolventa"/>
                </a:rPr>
                <a:t>Н</a:t>
              </a:r>
              <a:r>
                <a:rPr lang="en-US" sz="2824">
                  <a:solidFill>
                    <a:srgbClr val="FEFEFE"/>
                  </a:solidFill>
                  <a:latin typeface="Evolventa"/>
                  <a:ea typeface="Evolventa"/>
                  <a:cs typeface="Evolventa"/>
                  <a:sym typeface="Evolventa"/>
                </a:rPr>
                <a:t>изкая задержка</a:t>
              </a:r>
            </a:p>
            <a:p>
              <a:pPr algn="l" marL="609913" indent="-304957" lvl="1">
                <a:lnSpc>
                  <a:spcPts val="3954"/>
                </a:lnSpc>
                <a:buFont typeface="Arial"/>
                <a:buChar char="•"/>
              </a:pPr>
              <a:r>
                <a:rPr lang="en-US" sz="2824">
                  <a:solidFill>
                    <a:srgbClr val="FEFEFE"/>
                  </a:solidFill>
                  <a:latin typeface="Evolventa"/>
                  <a:ea typeface="Evolventa"/>
                  <a:cs typeface="Evolventa"/>
                  <a:sym typeface="Evolventa"/>
                </a:rPr>
                <a:t>Стабильность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1200464" y="2869662"/>
            <a:ext cx="7714897" cy="2273838"/>
            <a:chOff x="0" y="0"/>
            <a:chExt cx="10286529" cy="3031784"/>
          </a:xfrm>
        </p:grpSpPr>
        <p:sp>
          <p:nvSpPr>
            <p:cNvPr name="TextBox 8" id="8"/>
            <p:cNvSpPr txBox="true"/>
            <p:nvPr/>
          </p:nvSpPr>
          <p:spPr>
            <a:xfrm rot="0">
              <a:off x="0" y="-200025"/>
              <a:ext cx="10286529" cy="100435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599"/>
                </a:lnSpc>
              </a:pPr>
              <a:r>
                <a:rPr lang="en-US" sz="3999" b="true">
                  <a:solidFill>
                    <a:srgbClr val="94DDDE"/>
                  </a:solidFill>
                  <a:latin typeface="Evolventa Bold"/>
                  <a:ea typeface="Evolventa Bold"/>
                  <a:cs typeface="Evolventa Bold"/>
                  <a:sym typeface="Evolventa Bold"/>
                </a:rPr>
                <a:t>Bluetooth: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1035555"/>
              <a:ext cx="10286529" cy="185144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609913" indent="-304957" lvl="1">
                <a:lnSpc>
                  <a:spcPts val="3954"/>
                </a:lnSpc>
                <a:buFont typeface="Arial"/>
                <a:buChar char="•"/>
              </a:pPr>
              <a:r>
                <a:rPr lang="en-US" sz="2824">
                  <a:solidFill>
                    <a:srgbClr val="FEFEFE"/>
                  </a:solidFill>
                  <a:latin typeface="Evolventa"/>
                  <a:ea typeface="Evolventa"/>
                  <a:cs typeface="Evolventa"/>
                  <a:sym typeface="Evolventa"/>
                </a:rPr>
                <a:t>Мобиль</a:t>
              </a:r>
              <a:r>
                <a:rPr lang="en-US" sz="2824">
                  <a:solidFill>
                    <a:srgbClr val="FEFEFE"/>
                  </a:solidFill>
                  <a:latin typeface="Evolventa"/>
                  <a:ea typeface="Evolventa"/>
                  <a:cs typeface="Evolventa"/>
                  <a:sym typeface="Evolventa"/>
                </a:rPr>
                <a:t>ность</a:t>
              </a:r>
            </a:p>
            <a:p>
              <a:pPr algn="l" marL="609913" indent="-304957" lvl="1">
                <a:lnSpc>
                  <a:spcPts val="3954"/>
                </a:lnSpc>
                <a:buFont typeface="Arial"/>
                <a:buChar char="•"/>
              </a:pPr>
              <a:r>
                <a:rPr lang="en-US" sz="2824">
                  <a:solidFill>
                    <a:srgbClr val="FEFEFE"/>
                  </a:solidFill>
                  <a:latin typeface="Evolventa"/>
                  <a:ea typeface="Evolventa"/>
                  <a:cs typeface="Evolventa"/>
                  <a:sym typeface="Evolventa"/>
                </a:rPr>
                <a:t>Более высокая задержка</a:t>
              </a:r>
            </a:p>
            <a:p>
              <a:pPr algn="l">
                <a:lnSpc>
                  <a:spcPts val="2835"/>
                </a:lnSpc>
              </a:pP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B4B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347502" y="1737519"/>
            <a:ext cx="9776650" cy="6110406"/>
          </a:xfrm>
          <a:custGeom>
            <a:avLst/>
            <a:gdLst/>
            <a:ahLst/>
            <a:cxnLst/>
            <a:rect r="r" b="b" t="t" l="l"/>
            <a:pathLst>
              <a:path h="6110406" w="9776650">
                <a:moveTo>
                  <a:pt x="0" y="0"/>
                </a:moveTo>
                <a:lnTo>
                  <a:pt x="9776650" y="0"/>
                </a:lnTo>
                <a:lnTo>
                  <a:pt x="9776650" y="6110406"/>
                </a:lnTo>
                <a:lnTo>
                  <a:pt x="0" y="61104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312127" y="670675"/>
            <a:ext cx="8035375" cy="3612926"/>
            <a:chOff x="0" y="0"/>
            <a:chExt cx="10713833" cy="4817235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934558" y="-200025"/>
              <a:ext cx="9439436" cy="14954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7680"/>
                </a:lnSpc>
              </a:pPr>
              <a:r>
                <a:rPr lang="en-US" sz="6400" b="true">
                  <a:solidFill>
                    <a:srgbClr val="94DDDE"/>
                  </a:solidFill>
                  <a:latin typeface="Evolventa Bold"/>
                  <a:ea typeface="Evolventa Bold"/>
                  <a:cs typeface="Evolventa Bold"/>
                  <a:sym typeface="Evolventa Bold"/>
                </a:rPr>
                <a:t>SIMD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1539365"/>
              <a:ext cx="10713833" cy="32778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822"/>
                </a:lnSpc>
              </a:pPr>
              <a:r>
                <a:rPr lang="en-US" sz="2600" spc="520">
                  <a:solidFill>
                    <a:srgbClr val="94DDDE"/>
                  </a:solidFill>
                  <a:latin typeface="Evolventa"/>
                  <a:ea typeface="Evolventa"/>
                  <a:cs typeface="Evolventa"/>
                  <a:sym typeface="Evolventa"/>
                </a:rPr>
                <a:t>SINGLE INSTRUCTION MULTIPLE DATA</a:t>
              </a:r>
            </a:p>
            <a:p>
              <a:pPr algn="l" marL="561342" indent="-280671" lvl="1">
                <a:lnSpc>
                  <a:spcPts val="3822"/>
                </a:lnSpc>
                <a:buFont typeface="Arial"/>
                <a:buChar char="•"/>
              </a:pPr>
              <a:r>
                <a:rPr lang="en-US" sz="2600" spc="520">
                  <a:solidFill>
                    <a:srgbClr val="94DDDE"/>
                  </a:solidFill>
                  <a:latin typeface="Evolventa"/>
                  <a:ea typeface="Evolventa"/>
                  <a:cs typeface="Evolventa"/>
                  <a:sym typeface="Evolventa"/>
                </a:rPr>
                <a:t>Обр</a:t>
              </a:r>
              <a:r>
                <a:rPr lang="en-US" sz="2600" spc="520">
                  <a:solidFill>
                    <a:srgbClr val="94DDDE"/>
                  </a:solidFill>
                  <a:latin typeface="Evolventa"/>
                  <a:ea typeface="Evolventa"/>
                  <a:cs typeface="Evolventa"/>
                  <a:sym typeface="Evolventa"/>
                </a:rPr>
                <a:t>АБОТКА НЕСКОЛЬКИХ ПИКСЕЛЕЙ ОДНОВРЕМЕННО</a:t>
              </a:r>
            </a:p>
            <a:p>
              <a:pPr algn="l" marL="561342" indent="-280671" lvl="1">
                <a:lnSpc>
                  <a:spcPts val="3822"/>
                </a:lnSpc>
                <a:buFont typeface="Arial"/>
                <a:buChar char="•"/>
              </a:pPr>
              <a:r>
                <a:rPr lang="en-US" sz="2600" spc="520">
                  <a:solidFill>
                    <a:srgbClr val="94DDDE"/>
                  </a:solidFill>
                  <a:latin typeface="Evolventa"/>
                  <a:ea typeface="Evolventa"/>
                  <a:cs typeface="Evolventa"/>
                  <a:sym typeface="Evolventa"/>
                </a:rPr>
                <a:t>AVX / AVX-512 / NEON</a:t>
              </a:r>
            </a:p>
            <a:p>
              <a:pPr algn="l">
                <a:lnSpc>
                  <a:spcPts val="4262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472366" y="4792722"/>
            <a:ext cx="7714897" cy="3477920"/>
            <a:chOff x="0" y="0"/>
            <a:chExt cx="10286529" cy="4637227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-200025"/>
              <a:ext cx="10286529" cy="194415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599"/>
                </a:lnSpc>
              </a:pPr>
              <a:r>
                <a:rPr lang="en-US" sz="3999" b="true">
                  <a:solidFill>
                    <a:srgbClr val="94DDDE"/>
                  </a:solidFill>
                  <a:latin typeface="Evolventa Bold"/>
                  <a:ea typeface="Evolventa Bold"/>
                  <a:cs typeface="Evolventa Bold"/>
                  <a:sym typeface="Evolventa Bold"/>
                </a:rPr>
                <a:t>И</a:t>
              </a:r>
              <a:r>
                <a:rPr lang="en-US" sz="3999" b="true">
                  <a:solidFill>
                    <a:srgbClr val="94DDDE"/>
                  </a:solidFill>
                  <a:latin typeface="Evolventa Bold"/>
                  <a:ea typeface="Evolventa Bold"/>
                  <a:cs typeface="Evolventa Bold"/>
                  <a:sym typeface="Evolventa Bold"/>
                </a:rPr>
                <a:t>спользуется для:</a:t>
              </a:r>
            </a:p>
            <a:p>
              <a:pPr algn="l">
                <a:lnSpc>
                  <a:spcPts val="5599"/>
                </a:lnSpc>
              </a:pP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1040797"/>
              <a:ext cx="10286529" cy="359642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653092" indent="-326546" lvl="1">
                <a:lnSpc>
                  <a:spcPts val="4234"/>
                </a:lnSpc>
                <a:buFont typeface="Arial"/>
                <a:buChar char="•"/>
              </a:pPr>
              <a:r>
                <a:rPr lang="en-US" sz="3024">
                  <a:solidFill>
                    <a:srgbClr val="FEFEFE"/>
                  </a:solidFill>
                  <a:latin typeface="Evolventa"/>
                  <a:ea typeface="Evolventa"/>
                  <a:cs typeface="Evolventa"/>
                  <a:sym typeface="Evolventa"/>
                </a:rPr>
                <a:t>См</a:t>
              </a:r>
              <a:r>
                <a:rPr lang="en-US" sz="3024">
                  <a:solidFill>
                    <a:srgbClr val="FEFEFE"/>
                  </a:solidFill>
                  <a:latin typeface="Evolventa"/>
                  <a:ea typeface="Evolventa"/>
                  <a:cs typeface="Evolventa"/>
                  <a:sym typeface="Evolventa"/>
                </a:rPr>
                <a:t>ешивания цветов</a:t>
              </a:r>
            </a:p>
            <a:p>
              <a:pPr algn="l" marL="653092" indent="-326546" lvl="1">
                <a:lnSpc>
                  <a:spcPts val="4234"/>
                </a:lnSpc>
                <a:buFont typeface="Arial"/>
                <a:buChar char="•"/>
              </a:pPr>
              <a:r>
                <a:rPr lang="en-US" sz="3024">
                  <a:solidFill>
                    <a:srgbClr val="FEFEFE"/>
                  </a:solidFill>
                  <a:latin typeface="Evolventa"/>
                  <a:ea typeface="Evolventa"/>
                  <a:cs typeface="Evolventa"/>
                  <a:sym typeface="Evolventa"/>
                </a:rPr>
                <a:t>Прозрачности</a:t>
              </a:r>
            </a:p>
            <a:p>
              <a:pPr algn="l" marL="653092" indent="-326546" lvl="1">
                <a:lnSpc>
                  <a:spcPts val="4234"/>
                </a:lnSpc>
                <a:buFont typeface="Arial"/>
                <a:buChar char="•"/>
              </a:pPr>
              <a:r>
                <a:rPr lang="en-US" sz="3024">
                  <a:solidFill>
                    <a:srgbClr val="FEFEFE"/>
                  </a:solidFill>
                  <a:latin typeface="Evolventa"/>
                  <a:ea typeface="Evolventa"/>
                  <a:cs typeface="Evolventa"/>
                  <a:sym typeface="Evolventa"/>
                </a:rPr>
                <a:t>Фильтров</a:t>
              </a:r>
            </a:p>
            <a:p>
              <a:pPr algn="l">
                <a:lnSpc>
                  <a:spcPts val="4234"/>
                </a:lnSpc>
              </a:pPr>
              <a:r>
                <a:rPr lang="en-US" sz="3024">
                  <a:solidFill>
                    <a:srgbClr val="FEFEFE"/>
                  </a:solidFill>
                  <a:latin typeface="Evolventa"/>
                  <a:ea typeface="Evolventa"/>
                  <a:cs typeface="Evolventa"/>
                  <a:sym typeface="Evolventa"/>
                </a:rPr>
                <a:t>Ускорение: до 20 раз</a:t>
              </a:r>
            </a:p>
            <a:p>
              <a:pPr algn="l">
                <a:lnSpc>
                  <a:spcPts val="4234"/>
                </a:lnSpc>
              </a:pP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B4A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112110" y="2481265"/>
            <a:ext cx="10754366" cy="5798593"/>
          </a:xfrm>
          <a:custGeom>
            <a:avLst/>
            <a:gdLst/>
            <a:ahLst/>
            <a:cxnLst/>
            <a:rect r="r" b="b" t="t" l="l"/>
            <a:pathLst>
              <a:path h="5798593" w="10754366">
                <a:moveTo>
                  <a:pt x="0" y="0"/>
                </a:moveTo>
                <a:lnTo>
                  <a:pt x="10754366" y="0"/>
                </a:lnTo>
                <a:lnTo>
                  <a:pt x="10754366" y="5798592"/>
                </a:lnTo>
                <a:lnTo>
                  <a:pt x="0" y="579859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46160" y="843640"/>
            <a:ext cx="2974409" cy="7634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98"/>
              </a:lnSpc>
            </a:pPr>
            <a:r>
              <a:rPr lang="en-US" sz="5174" spc="-51" b="true">
                <a:solidFill>
                  <a:srgbClr val="2B4B82"/>
                </a:solidFill>
                <a:latin typeface="Evolventa Bold"/>
                <a:ea typeface="Evolventa Bold"/>
                <a:cs typeface="Evolventa Bold"/>
                <a:sym typeface="Evolventa Bold"/>
              </a:rPr>
              <a:t>GPU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436401" y="3097604"/>
            <a:ext cx="5465149" cy="27325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56897" indent="-328449" lvl="1">
              <a:lnSpc>
                <a:spcPts val="4259"/>
              </a:lnSpc>
              <a:buFont typeface="Arial"/>
              <a:buChar char="•"/>
            </a:pPr>
            <a:r>
              <a:rPr lang="en-US" sz="3042">
                <a:solidFill>
                  <a:srgbClr val="2B4B82"/>
                </a:solidFill>
                <a:latin typeface="Evolventa"/>
                <a:ea typeface="Evolventa"/>
                <a:cs typeface="Evolventa"/>
                <a:sym typeface="Evolventa"/>
              </a:rPr>
              <a:t>тысячи потоков одновременно</a:t>
            </a:r>
          </a:p>
          <a:p>
            <a:pPr algn="l" marL="656897" indent="-328449" lvl="1">
              <a:lnSpc>
                <a:spcPts val="4259"/>
              </a:lnSpc>
              <a:buFont typeface="Arial"/>
              <a:buChar char="•"/>
            </a:pPr>
            <a:r>
              <a:rPr lang="en-US" sz="3042">
                <a:solidFill>
                  <a:srgbClr val="2B4B82"/>
                </a:solidFill>
                <a:latin typeface="Evolventa"/>
                <a:ea typeface="Evolventa"/>
                <a:cs typeface="Evolventa"/>
                <a:sym typeface="Evolventa"/>
              </a:rPr>
              <a:t> каждая нить — один пиксель</a:t>
            </a:r>
          </a:p>
          <a:p>
            <a:pPr algn="l">
              <a:lnSpc>
                <a:spcPts val="4259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436401" y="2328865"/>
            <a:ext cx="6675709" cy="16708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1"/>
              </a:lnSpc>
            </a:pPr>
            <a:r>
              <a:rPr lang="en-US" sz="2993" b="true">
                <a:solidFill>
                  <a:srgbClr val="2B4B82"/>
                </a:solidFill>
                <a:latin typeface="Evolventa Bold"/>
                <a:ea typeface="Evolventa Bold"/>
                <a:cs typeface="Evolventa Bold"/>
                <a:sym typeface="Evolventa Bold"/>
              </a:rPr>
              <a:t>Архитектура GPU</a:t>
            </a:r>
            <a:r>
              <a:rPr lang="en-US" sz="2993" b="true">
                <a:solidFill>
                  <a:srgbClr val="2B4B82"/>
                </a:solidFill>
                <a:latin typeface="Evolventa Bold"/>
                <a:ea typeface="Evolventa Bold"/>
                <a:cs typeface="Evolventa Bold"/>
                <a:sym typeface="Evolventa Bold"/>
              </a:rPr>
              <a:t>:</a:t>
            </a:r>
          </a:p>
          <a:p>
            <a:pPr algn="l">
              <a:lnSpc>
                <a:spcPts val="4191"/>
              </a:lnSpc>
            </a:pPr>
          </a:p>
          <a:p>
            <a:pPr algn="l">
              <a:lnSpc>
                <a:spcPts val="4191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436401" y="5677797"/>
            <a:ext cx="6224591" cy="2602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21"/>
              </a:lnSpc>
              <a:spcBef>
                <a:spcPct val="0"/>
              </a:spcBef>
            </a:pPr>
            <a:r>
              <a:rPr lang="en-US" b="true" sz="2872">
                <a:solidFill>
                  <a:srgbClr val="2B4B82"/>
                </a:solidFill>
                <a:latin typeface="Evolventa Bold"/>
                <a:ea typeface="Evolventa Bold"/>
                <a:cs typeface="Evolventa Bold"/>
                <a:sym typeface="Evolventa Bold"/>
              </a:rPr>
              <a:t>Почему CPU недостаточно</a:t>
            </a:r>
          </a:p>
          <a:p>
            <a:pPr algn="l">
              <a:lnSpc>
                <a:spcPts val="4021"/>
              </a:lnSpc>
              <a:spcBef>
                <a:spcPct val="0"/>
              </a:spcBef>
            </a:pPr>
            <a:r>
              <a:rPr lang="en-US" b="true" sz="2872">
                <a:solidFill>
                  <a:srgbClr val="2B4B82"/>
                </a:solidFill>
                <a:latin typeface="Evolventa Bold"/>
                <a:ea typeface="Evolventa Bold"/>
                <a:cs typeface="Evolventa Bold"/>
                <a:sym typeface="Evolventa Bold"/>
              </a:rPr>
              <a:t>Даже с SIMD:</a:t>
            </a:r>
          </a:p>
          <a:p>
            <a:pPr algn="l" marL="620248" indent="-310124" lvl="1">
              <a:lnSpc>
                <a:spcPts val="4021"/>
              </a:lnSpc>
              <a:buFont typeface="Arial"/>
              <a:buChar char="•"/>
            </a:pPr>
            <a:r>
              <a:rPr lang="en-US" sz="2872">
                <a:solidFill>
                  <a:srgbClr val="2B4B82"/>
                </a:solidFill>
                <a:latin typeface="Evolventa"/>
                <a:ea typeface="Evolventa"/>
                <a:cs typeface="Evolventa"/>
                <a:sym typeface="Evolventa"/>
              </a:rPr>
              <a:t>тысячи пикселей</a:t>
            </a:r>
          </a:p>
          <a:p>
            <a:pPr algn="l" marL="620248" indent="-310124" lvl="1">
              <a:lnSpc>
                <a:spcPts val="4021"/>
              </a:lnSpc>
              <a:buFont typeface="Arial"/>
              <a:buChar char="•"/>
            </a:pPr>
            <a:r>
              <a:rPr lang="en-US" sz="2872">
                <a:solidFill>
                  <a:srgbClr val="2B4B82"/>
                </a:solidFill>
                <a:latin typeface="Evolventa"/>
                <a:ea typeface="Evolventa"/>
                <a:cs typeface="Evolventa"/>
                <a:sym typeface="Evolventa"/>
              </a:rPr>
              <a:t>десятки мазков в секунду</a:t>
            </a:r>
          </a:p>
          <a:p>
            <a:pPr algn="l" marL="620248" indent="-310124" lvl="1">
              <a:lnSpc>
                <a:spcPts val="4021"/>
              </a:lnSpc>
              <a:buFont typeface="Arial"/>
              <a:buChar char="•"/>
            </a:pPr>
            <a:r>
              <a:rPr lang="en-US" sz="2872">
                <a:solidFill>
                  <a:srgbClr val="2B4B82"/>
                </a:solidFill>
                <a:latin typeface="Evolventa"/>
                <a:ea typeface="Evolventa"/>
                <a:cs typeface="Evolventa"/>
                <a:sym typeface="Evolventa"/>
              </a:rPr>
              <a:t>CPU становится узким местом.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94DD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459408" y="4153055"/>
            <a:ext cx="3840786" cy="3984948"/>
            <a:chOff x="0" y="0"/>
            <a:chExt cx="5121047" cy="5313264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424683" y="-142875"/>
              <a:ext cx="4271681" cy="202924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919"/>
                </a:lnSpc>
              </a:pPr>
              <a:r>
                <a:rPr lang="en-US" b="true" sz="2799" spc="478">
                  <a:solidFill>
                    <a:srgbClr val="2B4B82"/>
                  </a:solidFill>
                  <a:latin typeface="Evolventa Bold"/>
                  <a:ea typeface="Evolventa Bold"/>
                  <a:cs typeface="Evolventa Bold"/>
                  <a:sym typeface="Evolventa Bold"/>
                </a:rPr>
                <a:t>ОБРАБОТКА В СТИЛУСЕ / ПЛАН</a:t>
              </a:r>
              <a:r>
                <a:rPr lang="en-US" b="true" sz="2799" spc="478">
                  <a:solidFill>
                    <a:srgbClr val="2B4B82"/>
                  </a:solidFill>
                  <a:latin typeface="Evolventa Bold"/>
                  <a:ea typeface="Evolventa Bold"/>
                  <a:cs typeface="Evolventa Bold"/>
                  <a:sym typeface="Evolventa Bold"/>
                </a:rPr>
                <a:t>ШЕТЕ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424683" y="4927884"/>
              <a:ext cx="3523757" cy="3853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191"/>
                </a:lnSpc>
              </a:pP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1733973"/>
              <a:ext cx="5121047" cy="296159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113"/>
                </a:lnSpc>
              </a:pPr>
              <a:r>
                <a:rPr lang="en-US" sz="2938" b="true">
                  <a:solidFill>
                    <a:srgbClr val="2B4B82"/>
                  </a:solidFill>
                  <a:latin typeface="Evolventa Bold"/>
                  <a:ea typeface="Evolventa Bold"/>
                  <a:cs typeface="Evolventa Bold"/>
                  <a:sym typeface="Evolventa Bold"/>
                </a:rPr>
                <a:t>→</a:t>
              </a:r>
            </a:p>
            <a:p>
              <a:pPr algn="ctr">
                <a:lnSpc>
                  <a:spcPts val="4113"/>
                </a:lnSpc>
              </a:pPr>
              <a:r>
                <a:rPr lang="en-US" sz="2938" b="true">
                  <a:solidFill>
                    <a:srgbClr val="2B4B82"/>
                  </a:solidFill>
                  <a:latin typeface="Evolventa Bold"/>
                  <a:ea typeface="Evolventa Bold"/>
                  <a:cs typeface="Evolventa Bold"/>
                  <a:sym typeface="Evolventa Bold"/>
                </a:rPr>
                <a:t> (EMR — планшет) / (Active — стилус)</a:t>
              </a:r>
            </a:p>
            <a:p>
              <a:pPr algn="ctr">
                <a:lnSpc>
                  <a:spcPts val="513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0" y="4153055"/>
            <a:ext cx="2459408" cy="4103773"/>
            <a:chOff x="0" y="0"/>
            <a:chExt cx="3279211" cy="5471697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-142875"/>
              <a:ext cx="3279211" cy="70200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919"/>
                </a:lnSpc>
              </a:pPr>
              <a:r>
                <a:rPr lang="en-US" b="true" sz="2799" spc="478">
                  <a:solidFill>
                    <a:srgbClr val="2B4B82"/>
                  </a:solidFill>
                  <a:latin typeface="Evolventa Bold"/>
                  <a:ea typeface="Evolventa Bold"/>
                  <a:cs typeface="Evolventa Bold"/>
                  <a:sym typeface="Evolventa Bold"/>
                </a:rPr>
                <a:t>STYLUS 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5103890"/>
              <a:ext cx="3279211" cy="36780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108"/>
                </a:lnSpc>
              </a:pP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825378"/>
              <a:ext cx="3279211" cy="393606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844"/>
                </a:lnSpc>
              </a:pPr>
              <a:r>
                <a:rPr lang="en-US" b="true" sz="2746" spc="469">
                  <a:solidFill>
                    <a:srgbClr val="2B4B82"/>
                  </a:solidFill>
                  <a:latin typeface="Evolventa Bold"/>
                  <a:ea typeface="Evolventa Bold"/>
                  <a:cs typeface="Evolventa Bold"/>
                  <a:sym typeface="Evolventa Bold"/>
                </a:rPr>
                <a:t>(датчики)</a:t>
              </a:r>
            </a:p>
            <a:p>
              <a:pPr algn="ctr">
                <a:lnSpc>
                  <a:spcPts val="3844"/>
                </a:lnSpc>
              </a:pPr>
              <a:r>
                <a:rPr lang="en-US" b="true" sz="2746" spc="469">
                  <a:solidFill>
                    <a:srgbClr val="2B4B82"/>
                  </a:solidFill>
                  <a:latin typeface="Evolventa Bold"/>
                  <a:ea typeface="Evolventa Bold"/>
                  <a:cs typeface="Evolventa Bold"/>
                  <a:sym typeface="Evolventa Bold"/>
                </a:rPr>
                <a:t> → давление, положение, наклон</a:t>
              </a:r>
            </a:p>
            <a:p>
              <a:pPr algn="ctr">
                <a:lnSpc>
                  <a:spcPts val="3844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475011" y="4074174"/>
            <a:ext cx="2682428" cy="3606868"/>
            <a:chOff x="0" y="0"/>
            <a:chExt cx="3576570" cy="4809158"/>
          </a:xfrm>
        </p:grpSpPr>
        <p:sp>
          <p:nvSpPr>
            <p:cNvPr name="TextBox 11" id="11"/>
            <p:cNvSpPr txBox="true"/>
            <p:nvPr/>
          </p:nvSpPr>
          <p:spPr>
            <a:xfrm rot="0">
              <a:off x="0" y="-142875"/>
              <a:ext cx="3279211" cy="136884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919"/>
                </a:lnSpc>
              </a:pPr>
              <a:r>
                <a:rPr lang="en-US" b="true" sz="2799" spc="478">
                  <a:solidFill>
                    <a:srgbClr val="2B4B82"/>
                  </a:solidFill>
                  <a:latin typeface="Evolventa Bold"/>
                  <a:ea typeface="Evolventa Bold"/>
                  <a:cs typeface="Evolventa Bold"/>
                  <a:sym typeface="Evolventa Bold"/>
                </a:rPr>
                <a:t>HID-ПРОТОКОЛ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0" y="4467509"/>
              <a:ext cx="3279211" cy="34164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941"/>
                </a:lnSpc>
              </a:pP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0" y="1812160"/>
              <a:ext cx="3576570" cy="199296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844"/>
                </a:lnSpc>
              </a:pPr>
              <a:r>
                <a:rPr lang="en-US" b="true" sz="2746">
                  <a:solidFill>
                    <a:srgbClr val="2B4B82"/>
                  </a:solidFill>
                  <a:latin typeface="Evolventa Bold"/>
                  <a:ea typeface="Evolventa Bold"/>
                  <a:cs typeface="Evolventa Bold"/>
                  <a:sym typeface="Evolventa Bold"/>
                </a:rPr>
                <a:t>→ формирование HID-отчётов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9563164" y="4165890"/>
            <a:ext cx="2680634" cy="2050621"/>
            <a:chOff x="0" y="0"/>
            <a:chExt cx="3574179" cy="2734162"/>
          </a:xfrm>
        </p:grpSpPr>
        <p:sp>
          <p:nvSpPr>
            <p:cNvPr name="TextBox 15" id="15"/>
            <p:cNvSpPr txBox="true"/>
            <p:nvPr/>
          </p:nvSpPr>
          <p:spPr>
            <a:xfrm rot="0">
              <a:off x="0" y="-142875"/>
              <a:ext cx="3574179" cy="13559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919"/>
                </a:lnSpc>
              </a:pPr>
              <a:r>
                <a:rPr lang="en-US" b="true" sz="2800" spc="478">
                  <a:solidFill>
                    <a:srgbClr val="2B4B82"/>
                  </a:solidFill>
                  <a:latin typeface="Evolventa Bold"/>
                  <a:ea typeface="Evolventa Bold"/>
                  <a:cs typeface="Evolventa Bold"/>
                  <a:sym typeface="Evolventa Bold"/>
                </a:rPr>
                <a:t> ПЕРЕДАЧА Д</a:t>
              </a:r>
              <a:r>
                <a:rPr lang="en-US" b="true" sz="2800" spc="478">
                  <a:solidFill>
                    <a:srgbClr val="2B4B82"/>
                  </a:solidFill>
                  <a:latin typeface="Evolventa Bold"/>
                  <a:ea typeface="Evolventa Bold"/>
                  <a:cs typeface="Evolventa Bold"/>
                  <a:sym typeface="Evolventa Bold"/>
                </a:rPr>
                <a:t>АННЫХ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0" y="2291132"/>
              <a:ext cx="3574179" cy="4130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274"/>
                </a:lnSpc>
              </a:pP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0" y="1521708"/>
              <a:ext cx="3574179" cy="44859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445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2653373" y="4153055"/>
            <a:ext cx="2459408" cy="2077786"/>
            <a:chOff x="0" y="0"/>
            <a:chExt cx="3279211" cy="2770381"/>
          </a:xfrm>
        </p:grpSpPr>
        <p:sp>
          <p:nvSpPr>
            <p:cNvPr name="TextBox 19" id="19"/>
            <p:cNvSpPr txBox="true"/>
            <p:nvPr/>
          </p:nvSpPr>
          <p:spPr>
            <a:xfrm rot="0">
              <a:off x="0" y="-142875"/>
              <a:ext cx="3279211" cy="13559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919"/>
                </a:lnSpc>
              </a:pPr>
              <a:r>
                <a:rPr lang="en-US" b="true" sz="2799" spc="478">
                  <a:solidFill>
                    <a:srgbClr val="2B4B82"/>
                  </a:solidFill>
                  <a:latin typeface="Evolventa Bold"/>
                  <a:ea typeface="Evolventa Bold"/>
                  <a:cs typeface="Evolventa Bold"/>
                  <a:sym typeface="Evolventa Bold"/>
                </a:rPr>
                <a:t>CPU (SIMD)</a:t>
              </a: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0" y="2327351"/>
              <a:ext cx="3279211" cy="4130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274"/>
                </a:lnSpc>
              </a:pPr>
            </a:p>
          </p:txBody>
        </p:sp>
        <p:sp>
          <p:nvSpPr>
            <p:cNvPr name="TextBox 21" id="21"/>
            <p:cNvSpPr txBox="true"/>
            <p:nvPr/>
          </p:nvSpPr>
          <p:spPr>
            <a:xfrm rot="0">
              <a:off x="0" y="1531233"/>
              <a:ext cx="3279211" cy="4209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361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633705" y="3229192"/>
            <a:ext cx="13638455" cy="846526"/>
            <a:chOff x="0" y="0"/>
            <a:chExt cx="18184606" cy="1128702"/>
          </a:xfrm>
        </p:grpSpPr>
        <p:sp>
          <p:nvSpPr>
            <p:cNvPr name="TextBox 23" id="23"/>
            <p:cNvSpPr txBox="true"/>
            <p:nvPr/>
          </p:nvSpPr>
          <p:spPr>
            <a:xfrm rot="0">
              <a:off x="0" y="-227069"/>
              <a:ext cx="978093" cy="135165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489"/>
                </a:lnSpc>
              </a:pPr>
              <a:r>
                <a:rPr lang="en-US" b="true" sz="5349" spc="914">
                  <a:solidFill>
                    <a:srgbClr val="2B4B82"/>
                  </a:solidFill>
                  <a:latin typeface="Evolventa Bold"/>
                  <a:ea typeface="Evolventa Bold"/>
                  <a:cs typeface="Evolventa Bold"/>
                  <a:sym typeface="Evolventa Bold"/>
                </a:rPr>
                <a:t>1</a:t>
              </a:r>
            </a:p>
          </p:txBody>
        </p:sp>
        <p:sp>
          <p:nvSpPr>
            <p:cNvPr name="TextBox 24" id="24"/>
            <p:cNvSpPr txBox="true"/>
            <p:nvPr/>
          </p:nvSpPr>
          <p:spPr>
            <a:xfrm rot="0">
              <a:off x="4549410" y="-266700"/>
              <a:ext cx="978093" cy="135371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489"/>
                </a:lnSpc>
              </a:pPr>
              <a:r>
                <a:rPr lang="en-US" b="true" sz="5349" spc="914">
                  <a:solidFill>
                    <a:srgbClr val="2B4B82"/>
                  </a:solidFill>
                  <a:latin typeface="Evolventa Bold"/>
                  <a:ea typeface="Evolventa Bold"/>
                  <a:cs typeface="Evolventa Bold"/>
                  <a:sym typeface="Evolventa Bold"/>
                </a:rPr>
                <a:t>2</a:t>
              </a:r>
            </a:p>
          </p:txBody>
        </p:sp>
        <p:sp>
          <p:nvSpPr>
            <p:cNvPr name="TextBox 25" id="25"/>
            <p:cNvSpPr txBox="true"/>
            <p:nvPr/>
          </p:nvSpPr>
          <p:spPr>
            <a:xfrm rot="0">
              <a:off x="9111675" y="-225011"/>
              <a:ext cx="978093" cy="135165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489"/>
                </a:lnSpc>
              </a:pPr>
              <a:r>
                <a:rPr lang="en-US" b="true" sz="5349" spc="914">
                  <a:solidFill>
                    <a:srgbClr val="2B4B82"/>
                  </a:solidFill>
                  <a:latin typeface="Evolventa Bold"/>
                  <a:ea typeface="Evolventa Bold"/>
                  <a:cs typeface="Evolventa Bold"/>
                  <a:sym typeface="Evolventa Bold"/>
                </a:rPr>
                <a:t>3</a:t>
              </a:r>
            </a:p>
          </p:txBody>
        </p:sp>
        <p:sp>
          <p:nvSpPr>
            <p:cNvPr name="TextBox 26" id="26"/>
            <p:cNvSpPr txBox="true"/>
            <p:nvPr/>
          </p:nvSpPr>
          <p:spPr>
            <a:xfrm rot="0">
              <a:off x="13286231" y="-225011"/>
              <a:ext cx="978093" cy="135371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489"/>
                </a:lnSpc>
              </a:pPr>
              <a:r>
                <a:rPr lang="en-US" b="true" sz="5349" spc="914">
                  <a:solidFill>
                    <a:srgbClr val="2B4B82"/>
                  </a:solidFill>
                  <a:latin typeface="Evolventa Bold"/>
                  <a:ea typeface="Evolventa Bold"/>
                  <a:cs typeface="Evolventa Bold"/>
                  <a:sym typeface="Evolventa Bold"/>
                </a:rPr>
                <a:t>4</a:t>
              </a:r>
            </a:p>
          </p:txBody>
        </p:sp>
        <p:sp>
          <p:nvSpPr>
            <p:cNvPr name="TextBox 27" id="27"/>
            <p:cNvSpPr txBox="true"/>
            <p:nvPr/>
          </p:nvSpPr>
          <p:spPr>
            <a:xfrm rot="0">
              <a:off x="17206513" y="-227069"/>
              <a:ext cx="978093" cy="135371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489"/>
                </a:lnSpc>
              </a:pPr>
              <a:r>
                <a:rPr lang="en-US" b="true" sz="5349" spc="914">
                  <a:solidFill>
                    <a:srgbClr val="2B4B82"/>
                  </a:solidFill>
                  <a:latin typeface="Evolventa Bold"/>
                  <a:ea typeface="Evolventa Bold"/>
                  <a:cs typeface="Evolventa Bold"/>
                  <a:sym typeface="Evolventa Bold"/>
                </a:rPr>
                <a:t>5</a:t>
              </a:r>
            </a:p>
          </p:txBody>
        </p:sp>
        <p:sp>
          <p:nvSpPr>
            <p:cNvPr name="AutoShape 28" id="28"/>
            <p:cNvSpPr/>
            <p:nvPr/>
          </p:nvSpPr>
          <p:spPr>
            <a:xfrm>
              <a:off x="978093" y="543506"/>
              <a:ext cx="3571317" cy="0"/>
            </a:xfrm>
            <a:prstGeom prst="line">
              <a:avLst/>
            </a:prstGeom>
            <a:ln cap="flat" w="46322">
              <a:solidFill>
                <a:srgbClr val="2B4B82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29" id="29"/>
            <p:cNvSpPr/>
            <p:nvPr/>
          </p:nvSpPr>
          <p:spPr>
            <a:xfrm>
              <a:off x="5527503" y="543506"/>
              <a:ext cx="3584173" cy="40660"/>
            </a:xfrm>
            <a:prstGeom prst="line">
              <a:avLst/>
            </a:prstGeom>
            <a:ln cap="flat" w="46322">
              <a:solidFill>
                <a:srgbClr val="2B4B82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30" id="30"/>
            <p:cNvSpPr/>
            <p:nvPr/>
          </p:nvSpPr>
          <p:spPr>
            <a:xfrm>
              <a:off x="10089768" y="584166"/>
              <a:ext cx="3196462" cy="1029"/>
            </a:xfrm>
            <a:prstGeom prst="line">
              <a:avLst/>
            </a:prstGeom>
            <a:ln cap="flat" w="46322">
              <a:solidFill>
                <a:srgbClr val="2B4B82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31" id="31"/>
            <p:cNvSpPr/>
            <p:nvPr/>
          </p:nvSpPr>
          <p:spPr>
            <a:xfrm flipV="true">
              <a:off x="14264323" y="583137"/>
              <a:ext cx="2942190" cy="2059"/>
            </a:xfrm>
            <a:prstGeom prst="line">
              <a:avLst/>
            </a:prstGeom>
            <a:ln cap="flat" w="46322">
              <a:solidFill>
                <a:srgbClr val="2B4B82"/>
              </a:solidFill>
              <a:prstDash val="solid"/>
              <a:headEnd type="none" len="sm" w="sm"/>
              <a:tailEnd type="none" len="sm" w="sm"/>
            </a:ln>
          </p:spPr>
        </p:sp>
      </p:grpSp>
      <p:sp>
        <p:nvSpPr>
          <p:cNvPr name="TextBox 32" id="32"/>
          <p:cNvSpPr txBox="true"/>
          <p:nvPr/>
        </p:nvSpPr>
        <p:spPr>
          <a:xfrm rot="0">
            <a:off x="6986101" y="1136110"/>
            <a:ext cx="5257696" cy="990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>
                <a:solidFill>
                  <a:srgbClr val="2B4B82"/>
                </a:solidFill>
                <a:latin typeface="Evolventa"/>
                <a:ea typeface="Evolventa"/>
                <a:cs typeface="Evolventa"/>
                <a:sym typeface="Evolventa"/>
              </a:rPr>
              <a:t>Общая схема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9563164" y="5379893"/>
            <a:ext cx="2680634" cy="15303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49"/>
              </a:lnSpc>
              <a:spcBef>
                <a:spcPct val="0"/>
              </a:spcBef>
            </a:pPr>
            <a:r>
              <a:rPr lang="en-US" b="true" sz="2749" spc="470">
                <a:solidFill>
                  <a:srgbClr val="2B4B82"/>
                </a:solidFill>
                <a:latin typeface="Evolventa Bold"/>
                <a:ea typeface="Evolventa Bold"/>
                <a:cs typeface="Evolventa Bold"/>
                <a:sym typeface="Evolventa Bold"/>
              </a:rPr>
              <a:t>→ </a:t>
            </a:r>
          </a:p>
          <a:p>
            <a:pPr algn="ctr">
              <a:lnSpc>
                <a:spcPts val="3849"/>
              </a:lnSpc>
              <a:spcBef>
                <a:spcPct val="0"/>
              </a:spcBef>
            </a:pPr>
            <a:r>
              <a:rPr lang="en-US" b="true" sz="2749" spc="470">
                <a:solidFill>
                  <a:srgbClr val="2B4B82"/>
                </a:solidFill>
                <a:latin typeface="Evolventa Bold"/>
                <a:ea typeface="Evolventa Bold"/>
                <a:cs typeface="Evolventa Bold"/>
                <a:sym typeface="Evolventa Bold"/>
              </a:rPr>
              <a:t>USB / BLUETOOTH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15615910" y="4074174"/>
            <a:ext cx="2459408" cy="2838184"/>
            <a:chOff x="0" y="0"/>
            <a:chExt cx="3279211" cy="3784245"/>
          </a:xfrm>
        </p:grpSpPr>
        <p:sp>
          <p:nvSpPr>
            <p:cNvPr name="TextBox 35" id="35"/>
            <p:cNvSpPr txBox="true"/>
            <p:nvPr/>
          </p:nvSpPr>
          <p:spPr>
            <a:xfrm rot="0">
              <a:off x="0" y="-142875"/>
              <a:ext cx="3279211" cy="70200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919"/>
                </a:lnSpc>
              </a:pPr>
              <a:r>
                <a:rPr lang="en-US" b="true" sz="2799" spc="478">
                  <a:solidFill>
                    <a:srgbClr val="2B4B82"/>
                  </a:solidFill>
                  <a:latin typeface="Evolventa Bold"/>
                  <a:ea typeface="Evolventa Bold"/>
                  <a:cs typeface="Evolventa Bold"/>
                  <a:sym typeface="Evolventa Bold"/>
                </a:rPr>
                <a:t>GPU</a:t>
              </a:r>
            </a:p>
          </p:txBody>
        </p:sp>
        <p:sp>
          <p:nvSpPr>
            <p:cNvPr name="TextBox 36" id="36"/>
            <p:cNvSpPr txBox="true"/>
            <p:nvPr/>
          </p:nvSpPr>
          <p:spPr>
            <a:xfrm rot="0">
              <a:off x="0" y="1828645"/>
              <a:ext cx="3279211" cy="19556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814"/>
                </a:lnSpc>
              </a:pPr>
              <a:r>
                <a:rPr lang="en-US" b="true" sz="2724">
                  <a:solidFill>
                    <a:srgbClr val="2B4B82"/>
                  </a:solidFill>
                  <a:latin typeface="Evolventa Bold"/>
                  <a:ea typeface="Evolventa Bold"/>
                  <a:cs typeface="Evolventa Bold"/>
                  <a:sym typeface="Evolventa Bold"/>
                </a:rPr>
                <a:t>→ параллельный рендеринг</a:t>
              </a:r>
            </a:p>
          </p:txBody>
        </p:sp>
        <p:sp>
          <p:nvSpPr>
            <p:cNvPr name="TextBox 37" id="37"/>
            <p:cNvSpPr txBox="true"/>
            <p:nvPr/>
          </p:nvSpPr>
          <p:spPr>
            <a:xfrm rot="0">
              <a:off x="0" y="877277"/>
              <a:ext cx="3279211" cy="4209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361"/>
                </a:lnSpc>
              </a:pPr>
            </a:p>
          </p:txBody>
        </p:sp>
      </p:grpSp>
      <p:sp>
        <p:nvSpPr>
          <p:cNvPr name="TextBox 38" id="38"/>
          <p:cNvSpPr txBox="true"/>
          <p:nvPr/>
        </p:nvSpPr>
        <p:spPr>
          <a:xfrm rot="0">
            <a:off x="12478143" y="5389418"/>
            <a:ext cx="2809868" cy="19697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b="true" sz="2700" spc="461">
                <a:solidFill>
                  <a:srgbClr val="2B4B82"/>
                </a:solidFill>
                <a:latin typeface="Evolventa Bold"/>
                <a:ea typeface="Evolventa Bold"/>
                <a:cs typeface="Evolventa Bold"/>
                <a:sym typeface="Evolventa Bold"/>
              </a:rPr>
              <a:t>→ ПЕРВИЧНАЯ ОБРАБОТКА ПИКСЕЛЕЙ</a:t>
            </a:r>
          </a:p>
        </p:txBody>
      </p:sp>
      <p:sp>
        <p:nvSpPr>
          <p:cNvPr name="AutoShape 39" id="39"/>
          <p:cNvSpPr/>
          <p:nvPr/>
        </p:nvSpPr>
        <p:spPr>
          <a:xfrm flipV="true">
            <a:off x="14272173" y="3671505"/>
            <a:ext cx="2206642" cy="1544"/>
          </a:xfrm>
          <a:prstGeom prst="line">
            <a:avLst/>
          </a:prstGeom>
          <a:ln cap="flat" w="38100">
            <a:solidFill>
              <a:srgbClr val="2B4B8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0" id="40"/>
          <p:cNvSpPr txBox="true"/>
          <p:nvPr/>
        </p:nvSpPr>
        <p:spPr>
          <a:xfrm rot="0">
            <a:off x="16478829" y="2962492"/>
            <a:ext cx="733570" cy="1080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89"/>
              </a:lnSpc>
            </a:pPr>
            <a:r>
              <a:rPr lang="en-US" b="true" sz="5349" spc="914">
                <a:solidFill>
                  <a:srgbClr val="2B4B82"/>
                </a:solidFill>
                <a:latin typeface="Evolventa Bold"/>
                <a:ea typeface="Evolventa Bold"/>
                <a:cs typeface="Evolventa Bold"/>
                <a:sym typeface="Evolventa Bold"/>
              </a:rPr>
              <a:t>6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B4B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26102" y="4183031"/>
            <a:ext cx="10578305" cy="1938020"/>
            <a:chOff x="0" y="0"/>
            <a:chExt cx="14104407" cy="2584027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-189230"/>
              <a:ext cx="14104407" cy="12636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480"/>
                </a:lnSpc>
              </a:pPr>
              <a:r>
                <a:rPr lang="en-US" sz="5400">
                  <a:solidFill>
                    <a:srgbClr val="F7B4A7"/>
                  </a:solidFill>
                  <a:latin typeface="Evolventa"/>
                  <a:ea typeface="Evolventa"/>
                  <a:cs typeface="Evolventa"/>
                  <a:sym typeface="Evolventa"/>
                </a:rPr>
                <a:t>Заключение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1877272"/>
              <a:ext cx="14104407" cy="70844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19"/>
                </a:lnSpc>
              </a:pPr>
              <a:r>
                <a:rPr lang="en-US" sz="2800" spc="560">
                  <a:solidFill>
                    <a:srgbClr val="F7B4A7"/>
                  </a:solidFill>
                  <a:latin typeface="Evolventa"/>
                  <a:ea typeface="Evolventa"/>
                  <a:cs typeface="Evolventa"/>
                  <a:sym typeface="Evolventa"/>
                </a:rPr>
                <a:t> </a:t>
              </a: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3001822" y="1710976"/>
            <a:ext cx="3662625" cy="5642699"/>
          </a:xfrm>
          <a:custGeom>
            <a:avLst/>
            <a:gdLst/>
            <a:ahLst/>
            <a:cxnLst/>
            <a:rect r="r" b="b" t="t" l="l"/>
            <a:pathLst>
              <a:path h="5642699" w="3662625">
                <a:moveTo>
                  <a:pt x="0" y="0"/>
                </a:moveTo>
                <a:lnTo>
                  <a:pt x="3662625" y="0"/>
                </a:lnTo>
                <a:lnTo>
                  <a:pt x="3662625" y="5642699"/>
                </a:lnTo>
                <a:lnTo>
                  <a:pt x="0" y="564269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4DD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505449" y="981075"/>
            <a:ext cx="7312717" cy="9497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16"/>
              </a:lnSpc>
            </a:pPr>
            <a:r>
              <a:rPr lang="en-US" sz="5975" spc="-65">
                <a:solidFill>
                  <a:srgbClr val="2B4B82"/>
                </a:solidFill>
                <a:latin typeface="Evolventa"/>
                <a:ea typeface="Evolventa"/>
                <a:cs typeface="Evolventa"/>
                <a:sym typeface="Evolventa"/>
              </a:rPr>
              <a:t>В</a:t>
            </a:r>
            <a:r>
              <a:rPr lang="en-US" sz="5975" spc="-65">
                <a:solidFill>
                  <a:srgbClr val="2B4B82"/>
                </a:solidFill>
                <a:latin typeface="Evolventa"/>
                <a:ea typeface="Evolventa"/>
                <a:cs typeface="Evolventa"/>
                <a:sym typeface="Evolventa"/>
              </a:rPr>
              <a:t>опросы?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9854137" y="3018272"/>
            <a:ext cx="7411325" cy="4635447"/>
          </a:xfrm>
          <a:custGeom>
            <a:avLst/>
            <a:gdLst/>
            <a:ahLst/>
            <a:cxnLst/>
            <a:rect r="r" b="b" t="t" l="l"/>
            <a:pathLst>
              <a:path h="4635447" w="7411325">
                <a:moveTo>
                  <a:pt x="0" y="0"/>
                </a:moveTo>
                <a:lnTo>
                  <a:pt x="7411325" y="0"/>
                </a:lnTo>
                <a:lnTo>
                  <a:pt x="7411325" y="4635447"/>
                </a:lnTo>
                <a:lnTo>
                  <a:pt x="0" y="46354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665100" y="8613636"/>
            <a:ext cx="4338720" cy="2713672"/>
          </a:xfrm>
          <a:custGeom>
            <a:avLst/>
            <a:gdLst/>
            <a:ahLst/>
            <a:cxnLst/>
            <a:rect r="r" b="b" t="t" l="l"/>
            <a:pathLst>
              <a:path h="2713672" w="4338720">
                <a:moveTo>
                  <a:pt x="0" y="0"/>
                </a:moveTo>
                <a:lnTo>
                  <a:pt x="4338720" y="0"/>
                </a:lnTo>
                <a:lnTo>
                  <a:pt x="4338720" y="2713671"/>
                </a:lnTo>
                <a:lnTo>
                  <a:pt x="0" y="27136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3976014" y="7483497"/>
            <a:ext cx="3289448" cy="2057400"/>
          </a:xfrm>
          <a:custGeom>
            <a:avLst/>
            <a:gdLst/>
            <a:ahLst/>
            <a:cxnLst/>
            <a:rect r="r" b="b" t="t" l="l"/>
            <a:pathLst>
              <a:path h="2057400" w="3289448">
                <a:moveTo>
                  <a:pt x="0" y="0"/>
                </a:moveTo>
                <a:lnTo>
                  <a:pt x="3289448" y="0"/>
                </a:lnTo>
                <a:lnTo>
                  <a:pt x="3289448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3320348" y="712171"/>
            <a:ext cx="3289448" cy="2057400"/>
          </a:xfrm>
          <a:custGeom>
            <a:avLst/>
            <a:gdLst/>
            <a:ahLst/>
            <a:cxnLst/>
            <a:rect r="r" b="b" t="t" l="l"/>
            <a:pathLst>
              <a:path h="2057400" w="3289448">
                <a:moveTo>
                  <a:pt x="0" y="0"/>
                </a:moveTo>
                <a:lnTo>
                  <a:pt x="3289448" y="0"/>
                </a:lnTo>
                <a:lnTo>
                  <a:pt x="3289448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889662" y="1751163"/>
            <a:ext cx="634992" cy="458349"/>
          </a:xfrm>
          <a:custGeom>
            <a:avLst/>
            <a:gdLst/>
            <a:ahLst/>
            <a:cxnLst/>
            <a:rect r="r" b="b" t="t" l="l"/>
            <a:pathLst>
              <a:path h="458349" w="634992">
                <a:moveTo>
                  <a:pt x="0" y="0"/>
                </a:moveTo>
                <a:lnTo>
                  <a:pt x="634991" y="0"/>
                </a:lnTo>
                <a:lnTo>
                  <a:pt x="634991" y="458349"/>
                </a:lnTo>
                <a:lnTo>
                  <a:pt x="0" y="45834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406648" y="1649522"/>
            <a:ext cx="504043" cy="661632"/>
          </a:xfrm>
          <a:custGeom>
            <a:avLst/>
            <a:gdLst/>
            <a:ahLst/>
            <a:cxnLst/>
            <a:rect r="r" b="b" t="t" l="l"/>
            <a:pathLst>
              <a:path h="661632" w="504043">
                <a:moveTo>
                  <a:pt x="0" y="0"/>
                </a:moveTo>
                <a:lnTo>
                  <a:pt x="504044" y="0"/>
                </a:lnTo>
                <a:lnTo>
                  <a:pt x="504044" y="661632"/>
                </a:lnTo>
                <a:lnTo>
                  <a:pt x="0" y="66163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1797095" y="1700343"/>
            <a:ext cx="571419" cy="559990"/>
          </a:xfrm>
          <a:custGeom>
            <a:avLst/>
            <a:gdLst/>
            <a:ahLst/>
            <a:cxnLst/>
            <a:rect r="r" b="b" t="t" l="l"/>
            <a:pathLst>
              <a:path h="559990" w="571419">
                <a:moveTo>
                  <a:pt x="0" y="0"/>
                </a:moveTo>
                <a:lnTo>
                  <a:pt x="571419" y="0"/>
                </a:lnTo>
                <a:lnTo>
                  <a:pt x="571419" y="559990"/>
                </a:lnTo>
                <a:lnTo>
                  <a:pt x="0" y="55999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812059" y="1649522"/>
            <a:ext cx="441489" cy="661632"/>
          </a:xfrm>
          <a:custGeom>
            <a:avLst/>
            <a:gdLst/>
            <a:ahLst/>
            <a:cxnLst/>
            <a:rect r="r" b="b" t="t" l="l"/>
            <a:pathLst>
              <a:path h="661632" w="441489">
                <a:moveTo>
                  <a:pt x="0" y="0"/>
                </a:moveTo>
                <a:lnTo>
                  <a:pt x="441489" y="0"/>
                </a:lnTo>
                <a:lnTo>
                  <a:pt x="441489" y="661632"/>
                </a:lnTo>
                <a:lnTo>
                  <a:pt x="0" y="66163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3291449" y="1696456"/>
            <a:ext cx="537826" cy="567762"/>
          </a:xfrm>
          <a:custGeom>
            <a:avLst/>
            <a:gdLst/>
            <a:ahLst/>
            <a:cxnLst/>
            <a:rect r="r" b="b" t="t" l="l"/>
            <a:pathLst>
              <a:path h="567762" w="537826">
                <a:moveTo>
                  <a:pt x="0" y="0"/>
                </a:moveTo>
                <a:lnTo>
                  <a:pt x="537826" y="0"/>
                </a:lnTo>
                <a:lnTo>
                  <a:pt x="537826" y="567763"/>
                </a:lnTo>
                <a:lnTo>
                  <a:pt x="0" y="56776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195299" y="1649522"/>
            <a:ext cx="589454" cy="661632"/>
          </a:xfrm>
          <a:custGeom>
            <a:avLst/>
            <a:gdLst/>
            <a:ahLst/>
            <a:cxnLst/>
            <a:rect r="r" b="b" t="t" l="l"/>
            <a:pathLst>
              <a:path h="661632" w="589454">
                <a:moveTo>
                  <a:pt x="0" y="0"/>
                </a:moveTo>
                <a:lnTo>
                  <a:pt x="589454" y="0"/>
                </a:lnTo>
                <a:lnTo>
                  <a:pt x="589454" y="661632"/>
                </a:lnTo>
                <a:lnTo>
                  <a:pt x="0" y="66163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8883940" y="8057366"/>
            <a:ext cx="640714" cy="498592"/>
          </a:xfrm>
          <a:custGeom>
            <a:avLst/>
            <a:gdLst/>
            <a:ahLst/>
            <a:cxnLst/>
            <a:rect r="r" b="b" t="t" l="l"/>
            <a:pathLst>
              <a:path h="498592" w="640714">
                <a:moveTo>
                  <a:pt x="0" y="0"/>
                </a:moveTo>
                <a:lnTo>
                  <a:pt x="640713" y="0"/>
                </a:lnTo>
                <a:lnTo>
                  <a:pt x="640713" y="498592"/>
                </a:lnTo>
                <a:lnTo>
                  <a:pt x="0" y="498592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0526344" y="7975846"/>
            <a:ext cx="264653" cy="661632"/>
          </a:xfrm>
          <a:custGeom>
            <a:avLst/>
            <a:gdLst/>
            <a:ahLst/>
            <a:cxnLst/>
            <a:rect r="r" b="b" t="t" l="l"/>
            <a:pathLst>
              <a:path h="661632" w="264653">
                <a:moveTo>
                  <a:pt x="0" y="0"/>
                </a:moveTo>
                <a:lnTo>
                  <a:pt x="264652" y="0"/>
                </a:lnTo>
                <a:lnTo>
                  <a:pt x="264652" y="661632"/>
                </a:lnTo>
                <a:lnTo>
                  <a:pt x="0" y="661632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1742609" y="8074092"/>
            <a:ext cx="680391" cy="465140"/>
          </a:xfrm>
          <a:custGeom>
            <a:avLst/>
            <a:gdLst/>
            <a:ahLst/>
            <a:cxnLst/>
            <a:rect r="r" b="b" t="t" l="l"/>
            <a:pathLst>
              <a:path h="465140" w="680391">
                <a:moveTo>
                  <a:pt x="0" y="0"/>
                </a:moveTo>
                <a:lnTo>
                  <a:pt x="680391" y="0"/>
                </a:lnTo>
                <a:lnTo>
                  <a:pt x="680391" y="465140"/>
                </a:lnTo>
                <a:lnTo>
                  <a:pt x="0" y="465140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4751180" y="8026575"/>
            <a:ext cx="563247" cy="560175"/>
          </a:xfrm>
          <a:custGeom>
            <a:avLst/>
            <a:gdLst/>
            <a:ahLst/>
            <a:cxnLst/>
            <a:rect r="r" b="b" t="t" l="l"/>
            <a:pathLst>
              <a:path h="560175" w="563247">
                <a:moveTo>
                  <a:pt x="0" y="0"/>
                </a:moveTo>
                <a:lnTo>
                  <a:pt x="563247" y="0"/>
                </a:lnTo>
                <a:lnTo>
                  <a:pt x="563247" y="560175"/>
                </a:lnTo>
                <a:lnTo>
                  <a:pt x="0" y="560175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3439464" y="7975846"/>
            <a:ext cx="241796" cy="661632"/>
          </a:xfrm>
          <a:custGeom>
            <a:avLst/>
            <a:gdLst/>
            <a:ahLst/>
            <a:cxnLst/>
            <a:rect r="r" b="b" t="t" l="l"/>
            <a:pathLst>
              <a:path h="661632" w="241796">
                <a:moveTo>
                  <a:pt x="0" y="0"/>
                </a:moveTo>
                <a:lnTo>
                  <a:pt x="241796" y="0"/>
                </a:lnTo>
                <a:lnTo>
                  <a:pt x="241796" y="661632"/>
                </a:lnTo>
                <a:lnTo>
                  <a:pt x="0" y="661632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6195299" y="8023189"/>
            <a:ext cx="589454" cy="566947"/>
          </a:xfrm>
          <a:custGeom>
            <a:avLst/>
            <a:gdLst/>
            <a:ahLst/>
            <a:cxnLst/>
            <a:rect r="r" b="b" t="t" l="l"/>
            <a:pathLst>
              <a:path h="566947" w="589454">
                <a:moveTo>
                  <a:pt x="0" y="0"/>
                </a:moveTo>
                <a:lnTo>
                  <a:pt x="589454" y="0"/>
                </a:lnTo>
                <a:lnTo>
                  <a:pt x="589454" y="566947"/>
                </a:lnTo>
                <a:lnTo>
                  <a:pt x="0" y="566947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9016487" y="6394265"/>
            <a:ext cx="381341" cy="661632"/>
          </a:xfrm>
          <a:custGeom>
            <a:avLst/>
            <a:gdLst/>
            <a:ahLst/>
            <a:cxnLst/>
            <a:rect r="r" b="b" t="t" l="l"/>
            <a:pathLst>
              <a:path h="661632" w="381341">
                <a:moveTo>
                  <a:pt x="0" y="0"/>
                </a:moveTo>
                <a:lnTo>
                  <a:pt x="381341" y="0"/>
                </a:lnTo>
                <a:lnTo>
                  <a:pt x="381341" y="661632"/>
                </a:lnTo>
                <a:lnTo>
                  <a:pt x="0" y="661632"/>
                </a:lnTo>
                <a:lnTo>
                  <a:pt x="0" y="0"/>
                </a:lnTo>
                <a:close/>
              </a:path>
            </a:pathLst>
          </a:custGeom>
          <a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0427700" y="6394265"/>
            <a:ext cx="461939" cy="661632"/>
          </a:xfrm>
          <a:custGeom>
            <a:avLst/>
            <a:gdLst/>
            <a:ahLst/>
            <a:cxnLst/>
            <a:rect r="r" b="b" t="t" l="l"/>
            <a:pathLst>
              <a:path h="661632" w="461939">
                <a:moveTo>
                  <a:pt x="0" y="0"/>
                </a:moveTo>
                <a:lnTo>
                  <a:pt x="461940" y="0"/>
                </a:lnTo>
                <a:lnTo>
                  <a:pt x="461940" y="661632"/>
                </a:lnTo>
                <a:lnTo>
                  <a:pt x="0" y="661632"/>
                </a:lnTo>
                <a:lnTo>
                  <a:pt x="0" y="0"/>
                </a:lnTo>
                <a:close/>
              </a:path>
            </a:pathLst>
          </a:custGeom>
          <a:blipFill>
            <a:blip r:embed="rId28">
              <a:extLst>
                <a:ext uri="{96DAC541-7B7A-43D3-8B79-37D633B846F1}">
                  <asvg:svgBlip xmlns:asvg="http://schemas.microsoft.com/office/drawing/2016/SVG/main" r:embed="rId2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1834392" y="6394265"/>
            <a:ext cx="496825" cy="661632"/>
          </a:xfrm>
          <a:custGeom>
            <a:avLst/>
            <a:gdLst/>
            <a:ahLst/>
            <a:cxnLst/>
            <a:rect r="r" b="b" t="t" l="l"/>
            <a:pathLst>
              <a:path h="661632" w="496825">
                <a:moveTo>
                  <a:pt x="0" y="0"/>
                </a:moveTo>
                <a:lnTo>
                  <a:pt x="496825" y="0"/>
                </a:lnTo>
                <a:lnTo>
                  <a:pt x="496825" y="661632"/>
                </a:lnTo>
                <a:lnTo>
                  <a:pt x="0" y="661632"/>
                </a:lnTo>
                <a:lnTo>
                  <a:pt x="0" y="0"/>
                </a:lnTo>
                <a:close/>
              </a:path>
            </a:pathLst>
          </a:custGeom>
          <a:blipFill>
            <a:blip r:embed="rId30">
              <a:extLst>
                <a:ext uri="{96DAC541-7B7A-43D3-8B79-37D633B846F1}">
                  <asvg:svgBlip xmlns:asvg="http://schemas.microsoft.com/office/drawing/2016/SVG/main" r:embed="rId3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4777775" y="6394265"/>
            <a:ext cx="510058" cy="661632"/>
          </a:xfrm>
          <a:custGeom>
            <a:avLst/>
            <a:gdLst/>
            <a:ahLst/>
            <a:cxnLst/>
            <a:rect r="r" b="b" t="t" l="l"/>
            <a:pathLst>
              <a:path h="661632" w="510058">
                <a:moveTo>
                  <a:pt x="0" y="0"/>
                </a:moveTo>
                <a:lnTo>
                  <a:pt x="510058" y="0"/>
                </a:lnTo>
                <a:lnTo>
                  <a:pt x="510058" y="661632"/>
                </a:lnTo>
                <a:lnTo>
                  <a:pt x="0" y="661632"/>
                </a:lnTo>
                <a:lnTo>
                  <a:pt x="0" y="0"/>
                </a:lnTo>
                <a:close/>
              </a:path>
            </a:pathLst>
          </a:custGeom>
          <a:blipFill>
            <a:blip r:embed="rId32">
              <a:extLst>
                <a:ext uri="{96DAC541-7B7A-43D3-8B79-37D633B846F1}">
                  <asvg:svgBlip xmlns:asvg="http://schemas.microsoft.com/office/drawing/2016/SVG/main" r:embed="rId3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3414803" y="6394265"/>
            <a:ext cx="291118" cy="661632"/>
          </a:xfrm>
          <a:custGeom>
            <a:avLst/>
            <a:gdLst/>
            <a:ahLst/>
            <a:cxnLst/>
            <a:rect r="r" b="b" t="t" l="l"/>
            <a:pathLst>
              <a:path h="661632" w="291118">
                <a:moveTo>
                  <a:pt x="0" y="0"/>
                </a:moveTo>
                <a:lnTo>
                  <a:pt x="291118" y="0"/>
                </a:lnTo>
                <a:lnTo>
                  <a:pt x="291118" y="661632"/>
                </a:lnTo>
                <a:lnTo>
                  <a:pt x="0" y="661632"/>
                </a:lnTo>
                <a:lnTo>
                  <a:pt x="0" y="0"/>
                </a:lnTo>
                <a:close/>
              </a:path>
            </a:pathLst>
          </a:custGeom>
          <a:blipFill>
            <a:blip r:embed="rId34">
              <a:extLst>
                <a:ext uri="{96DAC541-7B7A-43D3-8B79-37D633B846F1}">
                  <asvg:svgBlip xmlns:asvg="http://schemas.microsoft.com/office/drawing/2016/SVG/main" r:embed="rId3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6232317" y="6467372"/>
            <a:ext cx="515418" cy="515418"/>
          </a:xfrm>
          <a:custGeom>
            <a:avLst/>
            <a:gdLst/>
            <a:ahLst/>
            <a:cxnLst/>
            <a:rect r="r" b="b" t="t" l="l"/>
            <a:pathLst>
              <a:path h="515418" w="515418">
                <a:moveTo>
                  <a:pt x="0" y="0"/>
                </a:moveTo>
                <a:lnTo>
                  <a:pt x="515418" y="0"/>
                </a:lnTo>
                <a:lnTo>
                  <a:pt x="515418" y="515418"/>
                </a:lnTo>
                <a:lnTo>
                  <a:pt x="0" y="515418"/>
                </a:lnTo>
                <a:lnTo>
                  <a:pt x="0" y="0"/>
                </a:lnTo>
                <a:close/>
              </a:path>
            </a:pathLst>
          </a:custGeom>
          <a:blipFill>
            <a:blip r:embed="rId36">
              <a:extLst>
                <a:ext uri="{96DAC541-7B7A-43D3-8B79-37D633B846F1}">
                  <asvg:svgBlip xmlns:asvg="http://schemas.microsoft.com/office/drawing/2016/SVG/main" r:embed="rId3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8908796" y="4852733"/>
            <a:ext cx="596723" cy="581534"/>
          </a:xfrm>
          <a:custGeom>
            <a:avLst/>
            <a:gdLst/>
            <a:ahLst/>
            <a:cxnLst/>
            <a:rect r="r" b="b" t="t" l="l"/>
            <a:pathLst>
              <a:path h="581534" w="596723">
                <a:moveTo>
                  <a:pt x="0" y="0"/>
                </a:moveTo>
                <a:lnTo>
                  <a:pt x="596723" y="0"/>
                </a:lnTo>
                <a:lnTo>
                  <a:pt x="596723" y="581534"/>
                </a:lnTo>
                <a:lnTo>
                  <a:pt x="0" y="581534"/>
                </a:lnTo>
                <a:lnTo>
                  <a:pt x="0" y="0"/>
                </a:lnTo>
                <a:close/>
              </a:path>
            </a:pathLst>
          </a:custGeom>
          <a:blipFill>
            <a:blip r:embed="rId38">
              <a:extLst>
                <a:ext uri="{96DAC541-7B7A-43D3-8B79-37D633B846F1}">
                  <asvg:svgBlip xmlns:asvg="http://schemas.microsoft.com/office/drawing/2016/SVG/main" r:embed="rId3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0415671" y="4812684"/>
            <a:ext cx="485999" cy="661632"/>
          </a:xfrm>
          <a:custGeom>
            <a:avLst/>
            <a:gdLst/>
            <a:ahLst/>
            <a:cxnLst/>
            <a:rect r="r" b="b" t="t" l="l"/>
            <a:pathLst>
              <a:path h="661632" w="485999">
                <a:moveTo>
                  <a:pt x="0" y="0"/>
                </a:moveTo>
                <a:lnTo>
                  <a:pt x="485998" y="0"/>
                </a:lnTo>
                <a:lnTo>
                  <a:pt x="485998" y="661632"/>
                </a:lnTo>
                <a:lnTo>
                  <a:pt x="0" y="661632"/>
                </a:lnTo>
                <a:lnTo>
                  <a:pt x="0" y="0"/>
                </a:lnTo>
                <a:close/>
              </a:path>
            </a:pathLst>
          </a:custGeom>
          <a:blipFill>
            <a:blip r:embed="rId40">
              <a:extLst>
                <a:ext uri="{96DAC541-7B7A-43D3-8B79-37D633B846F1}">
                  <asvg:svgBlip xmlns:asvg="http://schemas.microsoft.com/office/drawing/2016/SVG/main" r:embed="rId4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11788679" y="4812684"/>
            <a:ext cx="588251" cy="661632"/>
          </a:xfrm>
          <a:custGeom>
            <a:avLst/>
            <a:gdLst/>
            <a:ahLst/>
            <a:cxnLst/>
            <a:rect r="r" b="b" t="t" l="l"/>
            <a:pathLst>
              <a:path h="661632" w="588251">
                <a:moveTo>
                  <a:pt x="0" y="0"/>
                </a:moveTo>
                <a:lnTo>
                  <a:pt x="588251" y="0"/>
                </a:lnTo>
                <a:lnTo>
                  <a:pt x="588251" y="661632"/>
                </a:lnTo>
                <a:lnTo>
                  <a:pt x="0" y="661632"/>
                </a:lnTo>
                <a:lnTo>
                  <a:pt x="0" y="0"/>
                </a:lnTo>
                <a:close/>
              </a:path>
            </a:pathLst>
          </a:custGeom>
          <a:blipFill>
            <a:blip r:embed="rId42">
              <a:extLst>
                <a:ext uri="{96DAC541-7B7A-43D3-8B79-37D633B846F1}">
                  <asvg:svgBlip xmlns:asvg="http://schemas.microsoft.com/office/drawing/2016/SVG/main" r:embed="rId4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14774166" y="4812684"/>
            <a:ext cx="517276" cy="661632"/>
          </a:xfrm>
          <a:custGeom>
            <a:avLst/>
            <a:gdLst/>
            <a:ahLst/>
            <a:cxnLst/>
            <a:rect r="r" b="b" t="t" l="l"/>
            <a:pathLst>
              <a:path h="661632" w="517276">
                <a:moveTo>
                  <a:pt x="0" y="0"/>
                </a:moveTo>
                <a:lnTo>
                  <a:pt x="517276" y="0"/>
                </a:lnTo>
                <a:lnTo>
                  <a:pt x="517276" y="661632"/>
                </a:lnTo>
                <a:lnTo>
                  <a:pt x="0" y="661632"/>
                </a:lnTo>
                <a:lnTo>
                  <a:pt x="0" y="0"/>
                </a:lnTo>
                <a:close/>
              </a:path>
            </a:pathLst>
          </a:custGeom>
          <a:blipFill>
            <a:blip r:embed="rId44">
              <a:extLst>
                <a:ext uri="{96DAC541-7B7A-43D3-8B79-37D633B846F1}">
                  <asvg:svgBlip xmlns:asvg="http://schemas.microsoft.com/office/drawing/2016/SVG/main" r:embed="rId4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3217063" y="4866364"/>
            <a:ext cx="686597" cy="554271"/>
          </a:xfrm>
          <a:custGeom>
            <a:avLst/>
            <a:gdLst/>
            <a:ahLst/>
            <a:cxnLst/>
            <a:rect r="r" b="b" t="t" l="l"/>
            <a:pathLst>
              <a:path h="554271" w="686597">
                <a:moveTo>
                  <a:pt x="0" y="0"/>
                </a:moveTo>
                <a:lnTo>
                  <a:pt x="686597" y="0"/>
                </a:lnTo>
                <a:lnTo>
                  <a:pt x="686597" y="554272"/>
                </a:lnTo>
                <a:lnTo>
                  <a:pt x="0" y="554272"/>
                </a:lnTo>
                <a:lnTo>
                  <a:pt x="0" y="0"/>
                </a:lnTo>
                <a:close/>
              </a:path>
            </a:pathLst>
          </a:custGeom>
          <a:blipFill>
            <a:blip r:embed="rId46">
              <a:extLst>
                <a:ext uri="{96DAC541-7B7A-43D3-8B79-37D633B846F1}">
                  <asvg:svgBlip xmlns:asvg="http://schemas.microsoft.com/office/drawing/2016/SVG/main" r:embed="rId4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16161947" y="4910863"/>
            <a:ext cx="656157" cy="465275"/>
          </a:xfrm>
          <a:custGeom>
            <a:avLst/>
            <a:gdLst/>
            <a:ahLst/>
            <a:cxnLst/>
            <a:rect r="r" b="b" t="t" l="l"/>
            <a:pathLst>
              <a:path h="465275" w="656157">
                <a:moveTo>
                  <a:pt x="0" y="0"/>
                </a:moveTo>
                <a:lnTo>
                  <a:pt x="656157" y="0"/>
                </a:lnTo>
                <a:lnTo>
                  <a:pt x="656157" y="465274"/>
                </a:lnTo>
                <a:lnTo>
                  <a:pt x="0" y="465274"/>
                </a:lnTo>
                <a:lnTo>
                  <a:pt x="0" y="0"/>
                </a:lnTo>
                <a:close/>
              </a:path>
            </a:pathLst>
          </a:custGeom>
          <a:blipFill>
            <a:blip r:embed="rId48">
              <a:extLst>
                <a:ext uri="{96DAC541-7B7A-43D3-8B79-37D633B846F1}">
                  <asvg:svgBlip xmlns:asvg="http://schemas.microsoft.com/office/drawing/2016/SVG/main" r:embed="rId4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8839584" y="3231103"/>
            <a:ext cx="735147" cy="661632"/>
          </a:xfrm>
          <a:custGeom>
            <a:avLst/>
            <a:gdLst/>
            <a:ahLst/>
            <a:cxnLst/>
            <a:rect r="r" b="b" t="t" l="l"/>
            <a:pathLst>
              <a:path h="661632" w="735147">
                <a:moveTo>
                  <a:pt x="0" y="0"/>
                </a:moveTo>
                <a:lnTo>
                  <a:pt x="735147" y="0"/>
                </a:lnTo>
                <a:lnTo>
                  <a:pt x="735147" y="661632"/>
                </a:lnTo>
                <a:lnTo>
                  <a:pt x="0" y="661632"/>
                </a:lnTo>
                <a:lnTo>
                  <a:pt x="0" y="0"/>
                </a:lnTo>
                <a:close/>
              </a:path>
            </a:pathLst>
          </a:custGeom>
          <a:blipFill>
            <a:blip r:embed="rId50">
              <a:extLst>
                <a:ext uri="{96DAC541-7B7A-43D3-8B79-37D633B846F1}">
                  <asvg:svgBlip xmlns:asvg="http://schemas.microsoft.com/office/drawing/2016/SVG/main" r:embed="rId5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10368794" y="3263915"/>
            <a:ext cx="579752" cy="596007"/>
          </a:xfrm>
          <a:custGeom>
            <a:avLst/>
            <a:gdLst/>
            <a:ahLst/>
            <a:cxnLst/>
            <a:rect r="r" b="b" t="t" l="l"/>
            <a:pathLst>
              <a:path h="596007" w="579752">
                <a:moveTo>
                  <a:pt x="0" y="0"/>
                </a:moveTo>
                <a:lnTo>
                  <a:pt x="579752" y="0"/>
                </a:lnTo>
                <a:lnTo>
                  <a:pt x="579752" y="596007"/>
                </a:lnTo>
                <a:lnTo>
                  <a:pt x="0" y="596007"/>
                </a:lnTo>
                <a:lnTo>
                  <a:pt x="0" y="0"/>
                </a:lnTo>
                <a:close/>
              </a:path>
            </a:pathLst>
          </a:custGeom>
          <a:blipFill>
            <a:blip r:embed="rId52">
              <a:extLst>
                <a:ext uri="{96DAC541-7B7A-43D3-8B79-37D633B846F1}">
                  <asvg:svgBlip xmlns:asvg="http://schemas.microsoft.com/office/drawing/2016/SVG/main" r:embed="rId5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11775296" y="3263915"/>
            <a:ext cx="615017" cy="596007"/>
          </a:xfrm>
          <a:custGeom>
            <a:avLst/>
            <a:gdLst/>
            <a:ahLst/>
            <a:cxnLst/>
            <a:rect r="r" b="b" t="t" l="l"/>
            <a:pathLst>
              <a:path h="596007" w="615017">
                <a:moveTo>
                  <a:pt x="0" y="0"/>
                </a:moveTo>
                <a:lnTo>
                  <a:pt x="615017" y="0"/>
                </a:lnTo>
                <a:lnTo>
                  <a:pt x="615017" y="596007"/>
                </a:lnTo>
                <a:lnTo>
                  <a:pt x="0" y="596007"/>
                </a:lnTo>
                <a:lnTo>
                  <a:pt x="0" y="0"/>
                </a:lnTo>
                <a:close/>
              </a:path>
            </a:pathLst>
          </a:custGeom>
          <a:blipFill>
            <a:blip r:embed="rId54">
              <a:extLst>
                <a:ext uri="{96DAC541-7B7A-43D3-8B79-37D633B846F1}">
                  <asvg:svgBlip xmlns:asvg="http://schemas.microsoft.com/office/drawing/2016/SVG/main" r:embed="rId5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14697723" y="3231103"/>
            <a:ext cx="670161" cy="661632"/>
          </a:xfrm>
          <a:custGeom>
            <a:avLst/>
            <a:gdLst/>
            <a:ahLst/>
            <a:cxnLst/>
            <a:rect r="r" b="b" t="t" l="l"/>
            <a:pathLst>
              <a:path h="661632" w="670161">
                <a:moveTo>
                  <a:pt x="0" y="0"/>
                </a:moveTo>
                <a:lnTo>
                  <a:pt x="670161" y="0"/>
                </a:lnTo>
                <a:lnTo>
                  <a:pt x="670161" y="661632"/>
                </a:lnTo>
                <a:lnTo>
                  <a:pt x="0" y="661632"/>
                </a:lnTo>
                <a:lnTo>
                  <a:pt x="0" y="0"/>
                </a:lnTo>
                <a:close/>
              </a:path>
            </a:pathLst>
          </a:custGeom>
          <a:blipFill>
            <a:blip r:embed="rId56">
              <a:extLst>
                <a:ext uri="{96DAC541-7B7A-43D3-8B79-37D633B846F1}">
                  <asvg:svgBlip xmlns:asvg="http://schemas.microsoft.com/office/drawing/2016/SVG/main" r:embed="rId5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13312550" y="3231103"/>
            <a:ext cx="495622" cy="661632"/>
          </a:xfrm>
          <a:custGeom>
            <a:avLst/>
            <a:gdLst/>
            <a:ahLst/>
            <a:cxnLst/>
            <a:rect r="r" b="b" t="t" l="l"/>
            <a:pathLst>
              <a:path h="661632" w="495622">
                <a:moveTo>
                  <a:pt x="0" y="0"/>
                </a:moveTo>
                <a:lnTo>
                  <a:pt x="495623" y="0"/>
                </a:lnTo>
                <a:lnTo>
                  <a:pt x="495623" y="661632"/>
                </a:lnTo>
                <a:lnTo>
                  <a:pt x="0" y="661632"/>
                </a:lnTo>
                <a:lnTo>
                  <a:pt x="0" y="0"/>
                </a:lnTo>
                <a:close/>
              </a:path>
            </a:pathLst>
          </a:custGeom>
          <a:blipFill>
            <a:blip r:embed="rId58">
              <a:extLst>
                <a:ext uri="{96DAC541-7B7A-43D3-8B79-37D633B846F1}">
                  <asvg:svgBlip xmlns:asvg="http://schemas.microsoft.com/office/drawing/2016/SVG/main" r:embed="rId5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16272890" y="3231103"/>
            <a:ext cx="434271" cy="661632"/>
          </a:xfrm>
          <a:custGeom>
            <a:avLst/>
            <a:gdLst/>
            <a:ahLst/>
            <a:cxnLst/>
            <a:rect r="r" b="b" t="t" l="l"/>
            <a:pathLst>
              <a:path h="661632" w="434271">
                <a:moveTo>
                  <a:pt x="0" y="0"/>
                </a:moveTo>
                <a:lnTo>
                  <a:pt x="434271" y="0"/>
                </a:lnTo>
                <a:lnTo>
                  <a:pt x="434271" y="661632"/>
                </a:lnTo>
                <a:lnTo>
                  <a:pt x="0" y="661632"/>
                </a:lnTo>
                <a:lnTo>
                  <a:pt x="0" y="0"/>
                </a:lnTo>
                <a:close/>
              </a:path>
            </a:pathLst>
          </a:custGeom>
          <a:blipFill>
            <a:blip r:embed="rId60">
              <a:extLst>
                <a:ext uri="{96DAC541-7B7A-43D3-8B79-37D633B846F1}">
                  <asvg:svgBlip xmlns:asvg="http://schemas.microsoft.com/office/drawing/2016/SVG/main" r:embed="rId6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2" id="32"/>
          <p:cNvGrpSpPr/>
          <p:nvPr/>
        </p:nvGrpSpPr>
        <p:grpSpPr>
          <a:xfrm rot="0">
            <a:off x="630303" y="1109539"/>
            <a:ext cx="7919167" cy="8067923"/>
            <a:chOff x="0" y="0"/>
            <a:chExt cx="10558890" cy="10757230"/>
          </a:xfrm>
        </p:grpSpPr>
        <p:sp>
          <p:nvSpPr>
            <p:cNvPr name="TextBox 33" id="33"/>
            <p:cNvSpPr txBox="true"/>
            <p:nvPr/>
          </p:nvSpPr>
          <p:spPr>
            <a:xfrm rot="0">
              <a:off x="0" y="-28575"/>
              <a:ext cx="7002862" cy="175117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494"/>
                </a:lnSpc>
                <a:spcBef>
                  <a:spcPct val="0"/>
                </a:spcBef>
              </a:pPr>
              <a:r>
                <a:rPr lang="en-US" sz="4781" spc="-52">
                  <a:solidFill>
                    <a:srgbClr val="2B4B82"/>
                  </a:solidFill>
                  <a:latin typeface="Evolventa"/>
                  <a:ea typeface="Evolventa"/>
                  <a:cs typeface="Evolventa"/>
                  <a:sym typeface="Evolventa"/>
                </a:rPr>
                <a:t>Использованные источники:</a:t>
              </a:r>
            </a:p>
          </p:txBody>
        </p:sp>
        <p:sp>
          <p:nvSpPr>
            <p:cNvPr name="TextBox 34" id="34"/>
            <p:cNvSpPr txBox="true"/>
            <p:nvPr/>
          </p:nvSpPr>
          <p:spPr>
            <a:xfrm rot="0">
              <a:off x="0" y="1511657"/>
              <a:ext cx="10558890" cy="924557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94"/>
                </a:lnSpc>
              </a:pPr>
            </a:p>
            <a:p>
              <a:pPr algn="l">
                <a:lnSpc>
                  <a:spcPts val="2494"/>
                </a:lnSpc>
              </a:pPr>
              <a:r>
                <a:rPr lang="en-US" sz="1782" b="true">
                  <a:solidFill>
                    <a:srgbClr val="2B4B82"/>
                  </a:solidFill>
                  <a:latin typeface="Evolventa Bold"/>
                  <a:ea typeface="Evolventa Bold"/>
                  <a:cs typeface="Evolventa Bold"/>
                  <a:sym typeface="Evolventa Bold"/>
                </a:rPr>
                <a:t>Виды</a:t>
              </a:r>
              <a:r>
                <a:rPr lang="en-US" sz="1782" b="true">
                  <a:solidFill>
                    <a:srgbClr val="2B4B82"/>
                  </a:solidFill>
                  <a:latin typeface="Evolventa Bold"/>
                  <a:ea typeface="Evolventa Bold"/>
                  <a:cs typeface="Evolventa Bold"/>
                  <a:sym typeface="Evolventa Bold"/>
                </a:rPr>
                <a:t> стилусов: </a:t>
              </a:r>
            </a:p>
            <a:p>
              <a:pPr algn="l">
                <a:lnSpc>
                  <a:spcPts val="2494"/>
                </a:lnSpc>
              </a:pPr>
              <a:r>
                <a:rPr lang="en-US" sz="1782">
                  <a:solidFill>
                    <a:srgbClr val="2B4B82"/>
                  </a:solidFill>
                  <a:latin typeface="Evolventa"/>
                  <a:ea typeface="Evolventa"/>
                  <a:cs typeface="Evolventa"/>
                  <a:sym typeface="Evolventa"/>
                </a:rPr>
                <a:t>https://www.xp-pen.com/blog/emr-technology.html                                                                                          </a:t>
              </a:r>
            </a:p>
            <a:p>
              <a:pPr algn="l">
                <a:lnSpc>
                  <a:spcPts val="2494"/>
                </a:lnSpc>
              </a:pPr>
              <a:r>
                <a:rPr lang="en-US" sz="1782">
                  <a:solidFill>
                    <a:srgbClr val="2B4B82"/>
                  </a:solidFill>
                  <a:latin typeface="Evolventa"/>
                  <a:ea typeface="Evolventa"/>
                  <a:cs typeface="Evolventa"/>
                  <a:sym typeface="Evolventa"/>
                </a:rPr>
                <a:t>https://citizenside.com/technology/explaining-the-operation-of-active-styluses-a-detailed-overview/                                                                                                                                                          </a:t>
              </a:r>
            </a:p>
            <a:p>
              <a:pPr algn="l">
                <a:lnSpc>
                  <a:spcPts val="2494"/>
                </a:lnSpc>
              </a:pPr>
              <a:r>
                <a:rPr lang="en-US" sz="1782">
                  <a:solidFill>
                    <a:srgbClr val="2B4B82"/>
                  </a:solidFill>
                  <a:latin typeface="Evolventa"/>
                  <a:ea typeface="Evolventa"/>
                  <a:cs typeface="Evolventa"/>
                  <a:sym typeface="Evolventa"/>
                </a:rPr>
                <a:t>https://mksegment.ru/a/kak-rabotaet-stilus-pen-ustrojstvo-i-princip-raboty</a:t>
              </a:r>
            </a:p>
            <a:p>
              <a:pPr algn="l">
                <a:lnSpc>
                  <a:spcPts val="2494"/>
                </a:lnSpc>
              </a:pPr>
              <a:r>
                <a:rPr lang="en-US" sz="1782" b="true">
                  <a:solidFill>
                    <a:srgbClr val="2B4B82"/>
                  </a:solidFill>
                  <a:latin typeface="Evolventa Bold"/>
                  <a:ea typeface="Evolventa Bold"/>
                  <a:cs typeface="Evolventa Bold"/>
                  <a:sym typeface="Evolventa Bold"/>
                </a:rPr>
                <a:t>Давление и частота:</a:t>
              </a:r>
            </a:p>
            <a:p>
              <a:pPr algn="l">
                <a:lnSpc>
                  <a:spcPts val="2494"/>
                </a:lnSpc>
              </a:pPr>
              <a:r>
                <a:rPr lang="en-US" sz="1782">
                  <a:solidFill>
                    <a:srgbClr val="2B4B82"/>
                  </a:solidFill>
                  <a:latin typeface="Evolventa"/>
                  <a:ea typeface="Evolventa"/>
                  <a:cs typeface="Evolventa"/>
                  <a:sym typeface="Evolventa"/>
                </a:rPr>
                <a:t>https://shamrin.ru/stilus-s-datchikom-davleniya/</a:t>
              </a:r>
            </a:p>
            <a:p>
              <a:pPr algn="l">
                <a:lnSpc>
                  <a:spcPts val="2494"/>
                </a:lnSpc>
              </a:pPr>
              <a:r>
                <a:rPr lang="en-US" sz="1782" b="true">
                  <a:solidFill>
                    <a:srgbClr val="2B4B82"/>
                  </a:solidFill>
                  <a:latin typeface="Evolventa Bold"/>
                  <a:ea typeface="Evolventa Bold"/>
                  <a:cs typeface="Evolventa Bold"/>
                  <a:sym typeface="Evolventa Bold"/>
                </a:rPr>
                <a:t>HID (USB/BLUETOOTH):</a:t>
              </a:r>
            </a:p>
            <a:p>
              <a:pPr algn="l">
                <a:lnSpc>
                  <a:spcPts val="2494"/>
                </a:lnSpc>
              </a:pPr>
              <a:r>
                <a:rPr lang="en-US" sz="1782">
                  <a:solidFill>
                    <a:srgbClr val="2B4B82"/>
                  </a:solidFill>
                  <a:latin typeface="Evolventa"/>
                  <a:ea typeface="Evolventa"/>
                  <a:cs typeface="Evolventa"/>
                  <a:sym typeface="Evolventa"/>
                </a:rPr>
                <a:t>https://russianblogs.com/article/76301466644/                                                                                             </a:t>
              </a:r>
            </a:p>
            <a:p>
              <a:pPr algn="l">
                <a:lnSpc>
                  <a:spcPts val="2494"/>
                </a:lnSpc>
              </a:pPr>
              <a:r>
                <a:rPr lang="en-US" sz="1782">
                  <a:solidFill>
                    <a:srgbClr val="2B4B82"/>
                  </a:solidFill>
                  <a:latin typeface="Evolventa"/>
                  <a:ea typeface="Evolventa"/>
                  <a:cs typeface="Evolventa"/>
                  <a:sym typeface="Evolventa"/>
                </a:rPr>
                <a:t>https://developer.apple.com/documentation/hiddriverkit/handling-stylus-input-from-a-human-interface-device                                                                                                                                                                    </a:t>
              </a:r>
            </a:p>
            <a:p>
              <a:pPr algn="l">
                <a:lnSpc>
                  <a:spcPts val="2494"/>
                </a:lnSpc>
              </a:pPr>
              <a:r>
                <a:rPr lang="en-US" sz="1782">
                  <a:solidFill>
                    <a:srgbClr val="2B4B82"/>
                  </a:solidFill>
                  <a:latin typeface="Evolventa"/>
                  <a:ea typeface="Evolventa"/>
                  <a:cs typeface="Evolventa"/>
                  <a:sym typeface="Evolventa"/>
                </a:rPr>
                <a:t>https://learn.microsoft.com/en-us/windows-hardware/design/component-guidelines/supporting-usages-in-digitizer-report-descriptors#:~:text=Starting%20with%20Window</a:t>
              </a:r>
            </a:p>
            <a:p>
              <a:pPr algn="l">
                <a:lnSpc>
                  <a:spcPts val="2494"/>
                </a:lnSpc>
              </a:pPr>
              <a:r>
                <a:rPr lang="en-US" sz="1782">
                  <a:solidFill>
                    <a:srgbClr val="2B4B82"/>
                  </a:solidFill>
                  <a:latin typeface="Evolventa"/>
                  <a:ea typeface="Evolventa"/>
                  <a:cs typeface="Evolventa"/>
                  <a:sym typeface="Evolventa"/>
                </a:rPr>
                <a:t>https://novelbits.io/bluetooth-hid-devices-an-intro/       </a:t>
              </a:r>
            </a:p>
            <a:p>
              <a:pPr algn="l">
                <a:lnSpc>
                  <a:spcPts val="2494"/>
                </a:lnSpc>
              </a:pPr>
              <a:r>
                <a:rPr lang="en-US" sz="1782" b="true">
                  <a:solidFill>
                    <a:srgbClr val="2B4B82"/>
                  </a:solidFill>
                  <a:latin typeface="Evolventa Bold"/>
                  <a:ea typeface="Evolventa Bold"/>
                  <a:cs typeface="Evolventa Bold"/>
                  <a:sym typeface="Evolventa Bold"/>
                </a:rPr>
                <a:t>SIMD:</a:t>
              </a:r>
            </a:p>
            <a:p>
              <a:pPr algn="l">
                <a:lnSpc>
                  <a:spcPts val="2494"/>
                </a:lnSpc>
              </a:pPr>
              <a:r>
                <a:rPr lang="en-US" sz="1782">
                  <a:solidFill>
                    <a:srgbClr val="2B4B82"/>
                  </a:solidFill>
                  <a:latin typeface="Evolventa"/>
                  <a:ea typeface="Evolventa"/>
                  <a:cs typeface="Evolventa"/>
                  <a:sym typeface="Evolventa"/>
                </a:rPr>
                <a:t>https://habr.com/ru/articles/440566/                                                                                                                   </a:t>
              </a:r>
            </a:p>
            <a:p>
              <a:pPr algn="l">
                <a:lnSpc>
                  <a:spcPts val="2494"/>
                </a:lnSpc>
              </a:pPr>
              <a:r>
                <a:rPr lang="en-US" sz="1782">
                  <a:solidFill>
                    <a:srgbClr val="2B4B82"/>
                  </a:solidFill>
                  <a:latin typeface="Evolventa"/>
                  <a:ea typeface="Evolventa"/>
                  <a:cs typeface="Evolventa"/>
                  <a:sym typeface="Evolventa"/>
                </a:rPr>
                <a:t>https://dl.acm.org/doi/fullHtml/10.1145/3641519.3657418</a:t>
              </a:r>
            </a:p>
            <a:p>
              <a:pPr algn="l">
                <a:lnSpc>
                  <a:spcPts val="2494"/>
                </a:lnSpc>
              </a:pPr>
              <a:r>
                <a:rPr lang="en-US" sz="1782" b="true">
                  <a:solidFill>
                    <a:srgbClr val="2B4B82"/>
                  </a:solidFill>
                  <a:latin typeface="Evolventa Bold"/>
                  <a:ea typeface="Evolventa Bold"/>
                  <a:cs typeface="Evolventa Bold"/>
                  <a:sym typeface="Evolventa Bold"/>
                </a:rPr>
                <a:t>GPU:</a:t>
              </a:r>
            </a:p>
            <a:p>
              <a:pPr algn="l" marL="0" indent="0" lvl="0">
                <a:lnSpc>
                  <a:spcPts val="2494"/>
                </a:lnSpc>
                <a:spcBef>
                  <a:spcPct val="0"/>
                </a:spcBef>
              </a:pPr>
              <a:r>
                <a:rPr lang="en-US" sz="1782">
                  <a:solidFill>
                    <a:srgbClr val="2B4B82"/>
                  </a:solidFill>
                  <a:latin typeface="Evolventa"/>
                  <a:ea typeface="Evolventa"/>
                  <a:cs typeface="Evolventa"/>
                  <a:sym typeface="Evolventa"/>
                </a:rPr>
                <a:t>https://habr.com/ru/companies/fplus_tech/articles/881488/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DAHGNNsn3pw</dc:identifier>
  <dcterms:modified xsi:type="dcterms:W3CDTF">2011-08-01T06:04:30Z</dcterms:modified>
  <cp:revision>1</cp:revision>
  <dc:title>Презентация Архитектура цифрового рисования: от датчиков давления до SIMD-рендеринга мазка</dc:title>
</cp:coreProperties>
</file>